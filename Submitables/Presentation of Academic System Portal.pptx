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92" r:id="rId3"/>
    <p:sldId id="280" r:id="rId4"/>
    <p:sldId id="275" r:id="rId5"/>
    <p:sldId id="301" r:id="rId6"/>
    <p:sldId id="284" r:id="rId7"/>
    <p:sldId id="303" r:id="rId8"/>
    <p:sldId id="286" r:id="rId9"/>
    <p:sldId id="287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" id="{B875EA3A-0F3A-42D7-B6E2-7E1A05C2A3DA}">
          <p14:sldIdLst>
            <p14:sldId id="292"/>
            <p14:sldId id="280"/>
          </p14:sldIdLst>
        </p14:section>
        <p14:section name="Introduction" id="{88495344-40FB-4841-99CC-E364E4B3FA60}">
          <p14:sldIdLst>
            <p14:sldId id="275"/>
            <p14:sldId id="301"/>
          </p14:sldIdLst>
        </p14:section>
        <p14:section name="System Features" id="{B0161835-6204-4266-8552-F3667AA67871}">
          <p14:sldIdLst>
            <p14:sldId id="284"/>
            <p14:sldId id="303"/>
          </p14:sldIdLst>
        </p14:section>
        <p14:section name="Technical Design" id="{B78F869A-DB52-4C0F-9771-93BD0B0C77E6}">
          <p14:sldIdLst>
            <p14:sldId id="286"/>
            <p14:sldId id="287"/>
          </p14:sldIdLst>
        </p14:section>
        <p14:section name="Implementations" id="{F496BB06-4A29-4BF5-BA77-B16347F04B8B}">
          <p14:sldIdLst>
            <p14:sldId id="293"/>
            <p14:sldId id="294"/>
          </p14:sldIdLst>
        </p14:section>
        <p14:section name="Demo" id="{5F9BCD4A-9433-48A8-B291-287BE2581A63}">
          <p14:sldIdLst>
            <p14:sldId id="295"/>
            <p14:sldId id="296"/>
          </p14:sldIdLst>
        </p14:section>
        <p14:section name="Reflections" id="{DAF8DABC-592A-4901-A0AC-5CDA09D8F45E}">
          <p14:sldIdLst>
            <p14:sldId id="297"/>
            <p14:sldId id="298"/>
          </p14:sldIdLst>
        </p14:section>
        <p14:section name="Team" id="{98810976-D7DB-4275-9710-9A2889E2A734}">
          <p14:sldIdLst>
            <p14:sldId id="299"/>
            <p14:sldId id="300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 Rafsan Janee" initials="MJ" lastIdx="2" clrIdx="0">
    <p:extLst>
      <p:ext uri="{19B8F6BF-5375-455C-9EA6-DF929625EA0E}">
        <p15:presenceInfo xmlns:p15="http://schemas.microsoft.com/office/powerpoint/2012/main" userId="fe8e52a39afd5ef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DFDE"/>
    <a:srgbClr val="47342D"/>
    <a:srgbClr val="8AAE8E"/>
    <a:srgbClr val="2B1A0E"/>
    <a:srgbClr val="6E6E3A"/>
    <a:srgbClr val="5F6437"/>
    <a:srgbClr val="484525"/>
    <a:srgbClr val="16180A"/>
    <a:srgbClr val="100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3" autoAdjust="0"/>
    <p:restoredTop sz="94616" autoAdjust="0"/>
  </p:normalViewPr>
  <p:slideViewPr>
    <p:cSldViewPr snapToGrid="0">
      <p:cViewPr varScale="1">
        <p:scale>
          <a:sx n="99" d="100"/>
          <a:sy n="99" d="100"/>
        </p:scale>
        <p:origin x="110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3AF2F-7BE3-498F-9766-58B5DA79A88E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27244-25DA-4FDD-ADED-482C09915D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46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https://www.freepik.com/free-ai-image/photorealistic-timber-house-interior-with-wooden-decor-furnishings_152371631.htm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7244-25DA-4FDD-ADED-482C09915D8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672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https://www.freepik.com/free-ai-image/photorealistic-timber-house-interior-with-wooden-decor-furnishings_152371631.htm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7244-25DA-4FDD-ADED-482C09915D8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853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BC4C-A618-39DD-A004-6F099E752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6177B-D510-70F6-1D00-4FCAE6228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48EFF-9FC7-4F9C-94A3-EA5AC7C6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9C630-0B09-53E1-31C9-BABEB0709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51915-DC9A-8D6C-F485-92668131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5329-AAE3-3E58-F378-BAD4CB61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91E4-A116-2E09-B4CB-D5DBA73A2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879D2-C552-EF51-DACF-B6C7FB75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E4186-D9C6-7254-A6CF-085AE5DA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87F46-1A54-4E99-9F0F-02FD07BA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14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2D31-7C3E-9B21-11F3-04D042B2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517DC-0E3B-090C-D59E-CF4189BB4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9B8AB-AECE-460D-ECF1-F71B5A9C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B0EE6-6B9F-C899-8CB2-BFC4C22F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B339F-44CD-99B1-E8A1-DB352F64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AB0E-B469-C409-AFFA-2E7D54D7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159B5-6998-F676-C099-A3B516B92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BB8FA-7C7D-AAC3-03E6-C37C8DBCB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9741E-FA99-DDFE-22EC-ED37E8EF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B26E2-8080-3035-BA21-383ACED9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850BC-FE52-B1FF-6350-3E751999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832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7F57-39D5-C614-4045-8C236549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B197E-557E-4427-9EBC-537882EF5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809BE-7F98-0816-D773-19E230279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C4FD4-A360-787F-3521-F4F124068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10C97-2AF6-44DB-A7CA-9349559F7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EE5B7E-BF9D-4409-F287-34E5C844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544D2-2FFC-E60C-6746-D35B7B40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C603DE-1205-4F8E-BC80-C26DD541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63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CD14-B560-5502-8FA7-7C5ED247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3E143C-9D80-7B20-53F1-F62F1622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224EA-D8AD-8467-6FA2-551B21B8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D5502-98CE-1730-CF44-A6E43451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74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D3DF59-3DE8-1391-6796-F8628072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741E8-5687-ABAE-BFDA-ABFB4E3F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F92D4-5F01-F416-5AB8-5946FF38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1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BAE40"/>
          </p15:clr>
        </p15:guide>
        <p15:guide id="2" pos="7680" userDrawn="1">
          <p15:clr>
            <a:srgbClr val="FBAE40"/>
          </p15:clr>
        </p15:guide>
        <p15:guide id="3" pos="170" userDrawn="1">
          <p15:clr>
            <a:srgbClr val="FBAE40"/>
          </p15:clr>
        </p15:guide>
        <p15:guide id="4" pos="781" userDrawn="1">
          <p15:clr>
            <a:srgbClr val="FBAE40"/>
          </p15:clr>
        </p15:guide>
        <p15:guide id="5" pos="1393" userDrawn="1">
          <p15:clr>
            <a:srgbClr val="FBAE40"/>
          </p15:clr>
        </p15:guide>
        <p15:guide id="6" pos="2005" userDrawn="1">
          <p15:clr>
            <a:srgbClr val="FBAE40"/>
          </p15:clr>
        </p15:guide>
        <p15:guide id="7" pos="2616" userDrawn="1">
          <p15:clr>
            <a:srgbClr val="FBAE40"/>
          </p15:clr>
        </p15:guide>
        <p15:guide id="8" pos="3228" userDrawn="1">
          <p15:clr>
            <a:srgbClr val="FBAE40"/>
          </p15:clr>
        </p15:guide>
        <p15:guide id="9" pos="3840" userDrawn="1">
          <p15:clr>
            <a:srgbClr val="FBAE40"/>
          </p15:clr>
        </p15:guide>
        <p15:guide id="10" pos="4451" userDrawn="1">
          <p15:clr>
            <a:srgbClr val="FBAE40"/>
          </p15:clr>
        </p15:guide>
        <p15:guide id="11" pos="5063" userDrawn="1">
          <p15:clr>
            <a:srgbClr val="FBAE40"/>
          </p15:clr>
        </p15:guide>
        <p15:guide id="12" pos="5674" userDrawn="1">
          <p15:clr>
            <a:srgbClr val="FBAE40"/>
          </p15:clr>
        </p15:guide>
        <p15:guide id="13" pos="6286" userDrawn="1">
          <p15:clr>
            <a:srgbClr val="FBAE40"/>
          </p15:clr>
        </p15:guide>
        <p15:guide id="14" pos="6898" userDrawn="1">
          <p15:clr>
            <a:srgbClr val="FBAE40"/>
          </p15:clr>
        </p15:guide>
        <p15:guide id="15" pos="7509" userDrawn="1">
          <p15:clr>
            <a:srgbClr val="FBAE40"/>
          </p15:clr>
        </p15:guide>
        <p15:guide id="16" orient="horz" userDrawn="1">
          <p15:clr>
            <a:srgbClr val="FBAE40"/>
          </p15:clr>
        </p15:guide>
        <p15:guide id="17" orient="horz" pos="4320" userDrawn="1">
          <p15:clr>
            <a:srgbClr val="FBAE40"/>
          </p15:clr>
        </p15:guide>
        <p15:guide id="18" orient="horz" pos="170" userDrawn="1">
          <p15:clr>
            <a:srgbClr val="FBAE40"/>
          </p15:clr>
        </p15:guide>
        <p15:guide id="19" orient="horz" pos="414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80FC-954B-3902-44DA-728C90F7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B6F3C-2639-35E1-B777-330AF3DBB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63C5E-D09C-57C5-2EC2-70882C866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F375C-4470-09D6-15BE-9BF9331F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796F1-3EE7-BE1C-93CC-2135E5BB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2ACCB-8014-917F-BE76-14490BAB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19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65C55-DE59-AD45-2ED2-29A791156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21D154-BEFF-4042-8137-4CE258904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5F2CF-5E0E-84D9-7794-1E1EC50C4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EA2CF-FF4B-F037-DBB0-1AE8C8E06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DDD2A-A5F6-F1C5-05E8-64CD9D51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BC7A3-B58F-13B7-9995-D27EF382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21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7BD0-2508-909C-716B-4E68C7E4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78145-3E79-6BD3-70F0-F691CA129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619B2-6441-48C8-7E6B-4ABE242E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C68C0-EDE2-C1FD-F7FD-BD969B56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A48DB-4380-CE54-ACD9-5559F813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43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6D35-54B1-A678-851B-FCA645D28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2D8D1-8933-43E3-68F5-4D65C467A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BDD04-642A-2CEF-ACD9-5D419188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33EDA-94B8-5637-5166-9F58C694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0ABD-3C03-215E-3BA0-CF733B94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803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27CA-EC04-FDCE-9CFC-53FBF80B2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C4E92-D8AF-45DE-4432-E80069378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36554-42D0-0742-A750-B703AEFC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C24A-9409-42F1-AFD4-D88E5171A316}" type="datetime1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C2A28-BEAA-D28B-8F6D-360C7F6E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760C1-75AB-344F-27D3-2137BB8E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287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53387-52C0-5B6A-6F6C-67FD472C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3C19-97F7-B057-C5A8-E5CE271F7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C0E83-50A0-F62F-EE08-250DAE07F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4FF3-9659-441D-886C-9DA4B7C21964}" type="datetime1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A5126-015E-26C8-9777-AD4E0B1F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0E731-D4E3-1F29-4105-4BC1839D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494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93CE-DC18-7EBB-FD8E-814F3522C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B9178-C934-2288-EC5A-DAC080A9F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07F36-ABE2-B599-3B45-FB385749F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0393-4DC3-4B15-8652-4766F50BDB94}" type="datetime1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7A94B-EA40-561F-0E00-4D71ABE1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03142-0649-0702-E644-F78C75B0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864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EBE7-5725-2027-6C19-02A8472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C399-F347-D0FB-AAC5-BB452DA45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E23FA-119D-D03B-8CDB-C0B784E3D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C3B32-C36F-CC0E-645F-04EE564C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746B6-5631-4AC1-900D-706E9B0D7B63}" type="datetime1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CFCF0-556C-BF46-05B1-FB1F1759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B6493-3CBF-FD4E-EE7C-088CCE43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229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480C-5F0C-EF6B-69FE-88938DD6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F698D-F9DC-8256-2772-5DCD8EA9D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DD954-1E5D-1CA5-AF1E-089B37102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52888-0209-873C-C8AB-6DD83628D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10F12-C3AA-5409-24D5-7973DB32AB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28A34-700E-CCCC-89A1-489F8837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351D-D414-4628-B6BA-F3CF23231103}" type="datetime1">
              <a:rPr lang="en-GB" smtClean="0"/>
              <a:t>19/08/2026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B6FA3-DBB1-94C6-4D07-2B495FB8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0359-950B-0308-A77D-C230EF31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151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1CE1-03DC-4BC7-6D82-7D0A611FD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EC0E2-AA2B-3889-9554-96F303DA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D3F00-CE47-4FAC-9296-264952B2AD7B}" type="datetime1">
              <a:rPr lang="en-GB" smtClean="0"/>
              <a:t>19/08/2026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E8A7B-5406-5D43-99E7-8F06BC66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3C191-0DC0-D851-8C87-75F3406F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224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3E5B6-DA1D-5638-C9A6-3CB7531B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8160D-F348-4767-A573-6056422869C1}" type="datetime1">
              <a:rPr lang="en-GB" smtClean="0"/>
              <a:t>19/08/2026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4E43F-1DF9-4A31-6750-A37A393C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GB" sz="1000">
                <a:latin typeface="Darker Grotesque" pitchFamily="2" charset="0"/>
              </a:defRPr>
            </a:lvl1pPr>
          </a:lstStyle>
          <a:p>
            <a:r>
              <a:rPr lang="en-GB"/>
              <a:t>Designed by One Skill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05FB5-9613-E806-4DED-5DBAED25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33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 0.11389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  <p:extLst>
    <p:ext uri="{DCECCB84-F9BA-43D5-87BE-67443E8EF086}">
      <p15:sldGuideLst xmlns:p15="http://schemas.microsoft.com/office/powerpoint/2012/main">
        <p15:guide id="1" userDrawn="1">
          <p15:clr>
            <a:srgbClr val="FBAE40"/>
          </p15:clr>
        </p15:guide>
        <p15:guide id="2" pos="7680" userDrawn="1">
          <p15:clr>
            <a:srgbClr val="FBAE40"/>
          </p15:clr>
        </p15:guide>
        <p15:guide id="3" pos="168" userDrawn="1">
          <p15:clr>
            <a:srgbClr val="FBAE40"/>
          </p15:clr>
        </p15:guide>
        <p15:guide id="4" pos="784" userDrawn="1">
          <p15:clr>
            <a:srgbClr val="FBAE40"/>
          </p15:clr>
        </p15:guide>
        <p15:guide id="5" pos="1392" userDrawn="1">
          <p15:clr>
            <a:srgbClr val="FBAE40"/>
          </p15:clr>
        </p15:guide>
        <p15:guide id="6" pos="2008" userDrawn="1">
          <p15:clr>
            <a:srgbClr val="FBAE40"/>
          </p15:clr>
        </p15:guide>
        <p15:guide id="7" pos="2616" userDrawn="1">
          <p15:clr>
            <a:srgbClr val="FBAE40"/>
          </p15:clr>
        </p15:guide>
        <p15:guide id="8" pos="3232" userDrawn="1">
          <p15:clr>
            <a:srgbClr val="FBAE40"/>
          </p15:clr>
        </p15:guide>
        <p15:guide id="9" pos="3840" userDrawn="1">
          <p15:clr>
            <a:srgbClr val="FBAE40"/>
          </p15:clr>
        </p15:guide>
        <p15:guide id="10" pos="4448" userDrawn="1">
          <p15:clr>
            <a:srgbClr val="FBAE40"/>
          </p15:clr>
        </p15:guide>
        <p15:guide id="11" pos="5064" userDrawn="1">
          <p15:clr>
            <a:srgbClr val="FBAE40"/>
          </p15:clr>
        </p15:guide>
        <p15:guide id="12" pos="5672" userDrawn="1">
          <p15:clr>
            <a:srgbClr val="FBAE40"/>
          </p15:clr>
        </p15:guide>
        <p15:guide id="13" pos="6288" userDrawn="1">
          <p15:clr>
            <a:srgbClr val="FBAE40"/>
          </p15:clr>
        </p15:guide>
        <p15:guide id="14" pos="6896" userDrawn="1">
          <p15:clr>
            <a:srgbClr val="FBAE40"/>
          </p15:clr>
        </p15:guide>
        <p15:guide id="15" pos="7512" userDrawn="1">
          <p15:clr>
            <a:srgbClr val="FBAE40"/>
          </p15:clr>
        </p15:guide>
        <p15:guide id="16" orient="horz" userDrawn="1">
          <p15:clr>
            <a:srgbClr val="FBAE40"/>
          </p15:clr>
        </p15:guide>
        <p15:guide id="17" orient="horz" pos="4320" userDrawn="1">
          <p15:clr>
            <a:srgbClr val="FBAE40"/>
          </p15:clr>
        </p15:guide>
        <p15:guide id="18" orient="horz" pos="168" userDrawn="1">
          <p15:clr>
            <a:srgbClr val="FBAE40"/>
          </p15:clr>
        </p15:guide>
        <p15:guide id="19" orient="horz" pos="2160" userDrawn="1">
          <p15:clr>
            <a:srgbClr val="FBAE40"/>
          </p15:clr>
        </p15:guide>
        <p15:guide id="20" orient="horz" pos="415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CE8C-4BC2-CAA2-7451-304FBEAA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79F71-05EB-853E-7E23-A6EAE8319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395FD-E4E0-6076-4D07-98E0B9418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82851-6829-4144-8DAC-B8A74FD2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BB48-99BB-40C1-9AA6-5303F798AB6D}" type="datetime1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CD30E-3C31-AA44-2A8B-87C605CD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B089B-89C5-5A31-F472-479A7604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637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4B6F-B779-6114-01F8-FC909B9E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0AF54E-2C93-3182-A338-652AD5607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0EA83-91B8-2F8B-D6D6-701E75F9D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3E36D-ADA9-46F8-605E-3DB04A71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C429-8E84-42A2-8E8C-AC5D38A08E5A}" type="datetime1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E5099-E6D2-CF7B-6B64-FB3B7E6B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92FE7-A8B1-05B3-0C64-06952BBA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370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14CF-52E1-BE45-744A-368CA91C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6A353-9914-8982-0C84-9A5695B1A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C1416-2554-CE90-5596-7D9ED862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4B02-EE58-467E-B191-C850F2619705}" type="datetime1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9D2BE-7059-389A-E2C3-EAE35D11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B6406-B2CF-C5A0-55AD-80883614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5916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BDED2-2230-DDDB-24CA-10C580DD6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F548C-B125-301D-91A0-E0236E25F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8B4E0-1400-9F08-4390-6E5ADEC2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8236-A10F-4128-9405-4158C4F29211}" type="datetime1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B47D6-33E1-13E1-1F4C-E66E6C56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Designed by One Skill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8F5D8-AA94-610F-1E85-D90E01FB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74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50F0E9-14D8-C13A-164C-5578C2FA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F6759-8623-0D18-E856-4DECD53A0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6CE54-4744-A76E-1786-3567DF9AF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0113B-307E-4BCC-B109-BBD51B521CA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C2A40-3DF3-1B62-CB90-5CF5DDD2B2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77C0B-632A-3E36-411B-34F99CAAF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4E427-6CF7-43B6-97E6-2AF54BA7A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80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70F58-8B7D-F427-3309-C3D961FD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B47EA-74DB-F782-1229-A7D50D55D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7489F-CA03-DF0D-936B-836DF9494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5E39B9-08EC-4F45-925B-8D107A3A0A96}" type="datetime1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FD0F0-FA20-6934-DED2-4CCC6121D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Designed by One Skill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108D4-B6A7-9A0C-D98B-E13304A17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B0B11-EF5C-41FA-A23E-99E3908ED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43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jp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2.png"/><Relationship Id="rId21" Type="http://schemas.openxmlformats.org/officeDocument/2006/relationships/image" Target="../media/image21.png"/><Relationship Id="rId34" Type="http://schemas.openxmlformats.org/officeDocument/2006/relationships/slide" Target="slide13.xml"/><Relationship Id="rId7" Type="http://schemas.openxmlformats.org/officeDocument/2006/relationships/image" Target="../media/image2.png"/><Relationship Id="rId12" Type="http://schemas.openxmlformats.org/officeDocument/2006/relationships/image" Target="../media/image9.svg"/><Relationship Id="rId17" Type="http://schemas.openxmlformats.org/officeDocument/2006/relationships/image" Target="../media/image16.png"/><Relationship Id="rId25" Type="http://schemas.openxmlformats.org/officeDocument/2006/relationships/slide" Target="slide7.xml"/><Relationship Id="rId33" Type="http://schemas.openxmlformats.org/officeDocument/2006/relationships/image" Target="../media/image25.png"/><Relationship Id="rId38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8.png"/><Relationship Id="rId24" Type="http://schemas.openxmlformats.org/officeDocument/2006/relationships/image" Target="../media/image22.png"/><Relationship Id="rId32" Type="http://schemas.openxmlformats.org/officeDocument/2006/relationships/image" Target="../media/image24.png"/><Relationship Id="rId37" Type="http://schemas.openxmlformats.org/officeDocument/2006/relationships/slide" Target="slide15.xml"/><Relationship Id="rId5" Type="http://schemas.openxmlformats.org/officeDocument/2006/relationships/slide" Target="slide3.xml"/><Relationship Id="rId15" Type="http://schemas.openxmlformats.org/officeDocument/2006/relationships/image" Target="../media/image14.png"/><Relationship Id="rId23" Type="http://schemas.openxmlformats.org/officeDocument/2006/relationships/image" Target="../media/image21.png"/><Relationship Id="rId28" Type="http://schemas.openxmlformats.org/officeDocument/2006/relationships/slide" Target="slide9.xml"/><Relationship Id="rId36" Type="http://schemas.openxmlformats.org/officeDocument/2006/relationships/image" Target="../media/image26.png"/><Relationship Id="rId10" Type="http://schemas.openxmlformats.org/officeDocument/2006/relationships/image" Target="../media/image7.svg"/><Relationship Id="rId19" Type="http://schemas.openxmlformats.org/officeDocument/2006/relationships/image" Target="../media/image18.png"/><Relationship Id="rId31" Type="http://schemas.openxmlformats.org/officeDocument/2006/relationships/slide" Target="slide11.xml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14" Type="http://schemas.openxmlformats.org/officeDocument/2006/relationships/image" Target="../media/image13.svg"/><Relationship Id="rId22" Type="http://schemas.openxmlformats.org/officeDocument/2006/relationships/slide" Target="slide5.xml"/><Relationship Id="rId27" Type="http://schemas.openxmlformats.org/officeDocument/2006/relationships/image" Target="../media/image23.png"/><Relationship Id="rId30" Type="http://schemas.openxmlformats.org/officeDocument/2006/relationships/image" Target="../media/image24.png"/><Relationship Id="rId35" Type="http://schemas.openxmlformats.org/officeDocument/2006/relationships/image" Target="../media/image25.png"/><Relationship Id="rId8" Type="http://schemas.openxmlformats.org/officeDocument/2006/relationships/image" Target="../media/image3.svg"/><Relationship Id="rId3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7.png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7.sv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1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10F48D5-EE9C-9633-579B-11E830EA1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9" r="5739"/>
          <a:stretch/>
        </p:blipFill>
        <p:spPr>
          <a:xfrm>
            <a:off x="-1052280" y="-584956"/>
            <a:ext cx="14296560" cy="8027912"/>
          </a:xfrm>
          <a:prstGeom prst="rect">
            <a:avLst/>
          </a:prstGeom>
        </p:spPr>
      </p:pic>
      <p:sp useBgFill="1">
        <p:nvSpPr>
          <p:cNvPr id="84" name="!!mission_big">
            <a:extLst>
              <a:ext uri="{FF2B5EF4-FFF2-40B4-BE49-F238E27FC236}">
                <a16:creationId xmlns:a16="http://schemas.microsoft.com/office/drawing/2014/main" id="{6CFBC3F3-FDB5-FD3D-1481-3059D5AE927C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85" name="!!problem_big">
            <a:extLst>
              <a:ext uri="{FF2B5EF4-FFF2-40B4-BE49-F238E27FC236}">
                <a16:creationId xmlns:a16="http://schemas.microsoft.com/office/drawing/2014/main" id="{70765587-F598-D543-0EBF-D55B36CEEE1A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86" name="!!solution_big">
            <a:extLst>
              <a:ext uri="{FF2B5EF4-FFF2-40B4-BE49-F238E27FC236}">
                <a16:creationId xmlns:a16="http://schemas.microsoft.com/office/drawing/2014/main" id="{C7467CC4-78EB-06D5-5CC2-826B8F952ABA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87" name="!!potential_big">
            <a:extLst>
              <a:ext uri="{FF2B5EF4-FFF2-40B4-BE49-F238E27FC236}">
                <a16:creationId xmlns:a16="http://schemas.microsoft.com/office/drawing/2014/main" id="{0DD63B05-8199-0461-6984-B6F7AE7441D2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88" name="!!model_big">
            <a:extLst>
              <a:ext uri="{FF2B5EF4-FFF2-40B4-BE49-F238E27FC236}">
                <a16:creationId xmlns:a16="http://schemas.microsoft.com/office/drawing/2014/main" id="{91323A8D-2FBA-BE9B-F312-A3CBEBBE7784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89" name="!!growth_big">
            <a:extLst>
              <a:ext uri="{FF2B5EF4-FFF2-40B4-BE49-F238E27FC236}">
                <a16:creationId xmlns:a16="http://schemas.microsoft.com/office/drawing/2014/main" id="{1D2DDA0C-34D1-ECC6-DC5C-7CAFDFDA342F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90" name="!!competition_big">
            <a:extLst>
              <a:ext uri="{FF2B5EF4-FFF2-40B4-BE49-F238E27FC236}">
                <a16:creationId xmlns:a16="http://schemas.microsoft.com/office/drawing/2014/main" id="{21154ADD-2272-0B48-19E1-DEF64F150958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91" name="!!finanvials_big">
            <a:extLst>
              <a:ext uri="{FF2B5EF4-FFF2-40B4-BE49-F238E27FC236}">
                <a16:creationId xmlns:a16="http://schemas.microsoft.com/office/drawing/2014/main" id="{8411AC72-885D-0B03-2EFB-F3B3BF963E02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92" name="!!team_big">
            <a:extLst>
              <a:ext uri="{FF2B5EF4-FFF2-40B4-BE49-F238E27FC236}">
                <a16:creationId xmlns:a16="http://schemas.microsoft.com/office/drawing/2014/main" id="{1658FEF9-E6D9-F422-5CE4-804A8426C251}"/>
              </a:ext>
            </a:extLst>
          </p:cNvPr>
          <p:cNvSpPr/>
          <p:nvPr/>
        </p:nvSpPr>
        <p:spPr>
          <a:xfrm>
            <a:off x="6893377" y="1817941"/>
            <a:ext cx="2515696" cy="2515696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grpSp>
        <p:nvGrpSpPr>
          <p:cNvPr id="93" name="!!mission">
            <a:extLst>
              <a:ext uri="{FF2B5EF4-FFF2-40B4-BE49-F238E27FC236}">
                <a16:creationId xmlns:a16="http://schemas.microsoft.com/office/drawing/2014/main" id="{8ABB4022-F60A-F196-E21D-86C3F9E8C5A1}"/>
              </a:ext>
            </a:extLst>
          </p:cNvPr>
          <p:cNvGrpSpPr/>
          <p:nvPr/>
        </p:nvGrpSpPr>
        <p:grpSpPr>
          <a:xfrm>
            <a:off x="6652870" y="2824776"/>
            <a:ext cx="507586" cy="507586"/>
            <a:chOff x="1700837" y="1711757"/>
            <a:chExt cx="507586" cy="507586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2FE31D7-9CA3-8B92-8DAC-2622D9EA35A8}"/>
                </a:ext>
              </a:extLst>
            </p:cNvPr>
            <p:cNvSpPr/>
            <p:nvPr/>
          </p:nvSpPr>
          <p:spPr>
            <a:xfrm>
              <a:off x="1700837" y="1711757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95" name="Graphic 94">
              <a:extLst>
                <a:ext uri="{FF2B5EF4-FFF2-40B4-BE49-F238E27FC236}">
                  <a16:creationId xmlns:a16="http://schemas.microsoft.com/office/drawing/2014/main" id="{F11E90DF-2951-D0AA-5249-88F7AFDCA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28630" y="1839550"/>
              <a:ext cx="252000" cy="252000"/>
            </a:xfrm>
            <a:prstGeom prst="rect">
              <a:avLst/>
            </a:prstGeom>
          </p:spPr>
        </p:pic>
      </p:grpSp>
      <p:grpSp>
        <p:nvGrpSpPr>
          <p:cNvPr id="96" name="!!problem">
            <a:extLst>
              <a:ext uri="{FF2B5EF4-FFF2-40B4-BE49-F238E27FC236}">
                <a16:creationId xmlns:a16="http://schemas.microsoft.com/office/drawing/2014/main" id="{EBA2FDB7-75AA-72DB-A82C-DD7851826BCB}"/>
              </a:ext>
            </a:extLst>
          </p:cNvPr>
          <p:cNvGrpSpPr/>
          <p:nvPr/>
        </p:nvGrpSpPr>
        <p:grpSpPr>
          <a:xfrm>
            <a:off x="7045745" y="1917649"/>
            <a:ext cx="507586" cy="507586"/>
            <a:chOff x="2240169" y="4083721"/>
            <a:chExt cx="507586" cy="50758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BDBE464-FFB6-460D-1355-070C8FFC1F50}"/>
                </a:ext>
              </a:extLst>
            </p:cNvPr>
            <p:cNvSpPr/>
            <p:nvPr/>
          </p:nvSpPr>
          <p:spPr>
            <a:xfrm>
              <a:off x="2240169" y="4083721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487C0E8-ED67-0170-B6A2-7DBC56712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67962" y="4211514"/>
              <a:ext cx="252000" cy="252000"/>
            </a:xfrm>
            <a:prstGeom prst="rect">
              <a:avLst/>
            </a:prstGeom>
          </p:spPr>
        </p:pic>
      </p:grpSp>
      <p:grpSp>
        <p:nvGrpSpPr>
          <p:cNvPr id="99" name="!!solution">
            <a:extLst>
              <a:ext uri="{FF2B5EF4-FFF2-40B4-BE49-F238E27FC236}">
                <a16:creationId xmlns:a16="http://schemas.microsoft.com/office/drawing/2014/main" id="{4315983D-37E1-2DB8-C6CD-897AB0F4A48B}"/>
              </a:ext>
            </a:extLst>
          </p:cNvPr>
          <p:cNvGrpSpPr/>
          <p:nvPr/>
        </p:nvGrpSpPr>
        <p:grpSpPr>
          <a:xfrm>
            <a:off x="7910718" y="1566928"/>
            <a:ext cx="507586" cy="507586"/>
            <a:chOff x="3825777" y="2263184"/>
            <a:chExt cx="507586" cy="507586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66739ED-CC90-C839-AE9F-21A11220F695}"/>
                </a:ext>
              </a:extLst>
            </p:cNvPr>
            <p:cNvSpPr/>
            <p:nvPr/>
          </p:nvSpPr>
          <p:spPr>
            <a:xfrm>
              <a:off x="3825777" y="2263184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010F1219-9830-8E0D-73D1-3886EF6C3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53570" y="2390977"/>
              <a:ext cx="252000" cy="252000"/>
            </a:xfrm>
            <a:prstGeom prst="rect">
              <a:avLst/>
            </a:prstGeom>
          </p:spPr>
        </p:pic>
      </p:grpSp>
      <p:grpSp>
        <p:nvGrpSpPr>
          <p:cNvPr id="102" name="!!potential">
            <a:extLst>
              <a:ext uri="{FF2B5EF4-FFF2-40B4-BE49-F238E27FC236}">
                <a16:creationId xmlns:a16="http://schemas.microsoft.com/office/drawing/2014/main" id="{7EB825F4-9A36-9B07-53BB-3512C1270479}"/>
              </a:ext>
            </a:extLst>
          </p:cNvPr>
          <p:cNvGrpSpPr/>
          <p:nvPr/>
        </p:nvGrpSpPr>
        <p:grpSpPr>
          <a:xfrm>
            <a:off x="7045745" y="3661814"/>
            <a:ext cx="507586" cy="507586"/>
            <a:chOff x="4797684" y="4481585"/>
            <a:chExt cx="507586" cy="50758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26293457-7725-C26F-5E8D-577FFD922349}"/>
                </a:ext>
              </a:extLst>
            </p:cNvPr>
            <p:cNvSpPr/>
            <p:nvPr/>
          </p:nvSpPr>
          <p:spPr>
            <a:xfrm>
              <a:off x="4797684" y="4481585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3BCCF682-C61A-869C-9529-636E04803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925477" y="4609378"/>
              <a:ext cx="252000" cy="252000"/>
            </a:xfrm>
            <a:prstGeom prst="rect">
              <a:avLst/>
            </a:prstGeom>
          </p:spPr>
        </p:pic>
      </p:grpSp>
      <p:grpSp>
        <p:nvGrpSpPr>
          <p:cNvPr id="105" name="!!model">
            <a:extLst>
              <a:ext uri="{FF2B5EF4-FFF2-40B4-BE49-F238E27FC236}">
                <a16:creationId xmlns:a16="http://schemas.microsoft.com/office/drawing/2014/main" id="{78714283-B9F8-CB78-2DCC-FA801CDE60EE}"/>
              </a:ext>
            </a:extLst>
          </p:cNvPr>
          <p:cNvGrpSpPr/>
          <p:nvPr/>
        </p:nvGrpSpPr>
        <p:grpSpPr>
          <a:xfrm>
            <a:off x="7897432" y="2821996"/>
            <a:ext cx="507586" cy="507586"/>
            <a:chOff x="5832785" y="1868829"/>
            <a:chExt cx="507586" cy="507586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50DC086-A827-EEA1-F118-DF41BE1504A7}"/>
                </a:ext>
              </a:extLst>
            </p:cNvPr>
            <p:cNvSpPr/>
            <p:nvPr/>
          </p:nvSpPr>
          <p:spPr>
            <a:xfrm>
              <a:off x="5832785" y="1868829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53BC1E00-DC2C-70CA-AD01-38FA56F5D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960578" y="1996622"/>
              <a:ext cx="252000" cy="252000"/>
            </a:xfrm>
            <a:prstGeom prst="rect">
              <a:avLst/>
            </a:prstGeom>
          </p:spPr>
        </p:pic>
      </p:grpSp>
      <p:grpSp>
        <p:nvGrpSpPr>
          <p:cNvPr id="108" name="!!growth">
            <a:extLst>
              <a:ext uri="{FF2B5EF4-FFF2-40B4-BE49-F238E27FC236}">
                <a16:creationId xmlns:a16="http://schemas.microsoft.com/office/drawing/2014/main" id="{166D8C8F-95DA-C3F8-C96B-26210A714E82}"/>
              </a:ext>
            </a:extLst>
          </p:cNvPr>
          <p:cNvGrpSpPr/>
          <p:nvPr/>
        </p:nvGrpSpPr>
        <p:grpSpPr>
          <a:xfrm>
            <a:off x="8787878" y="3661814"/>
            <a:ext cx="507586" cy="507586"/>
            <a:chOff x="6811776" y="4481585"/>
            <a:chExt cx="507586" cy="507586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1A935B9-16B8-4EA4-ECB5-F93E26ED1468}"/>
                </a:ext>
              </a:extLst>
            </p:cNvPr>
            <p:cNvSpPr/>
            <p:nvPr/>
          </p:nvSpPr>
          <p:spPr>
            <a:xfrm>
              <a:off x="6811776" y="4481585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B01ED3F3-C85A-6E07-2F45-1209EB11F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939569" y="4609378"/>
              <a:ext cx="252000" cy="252000"/>
            </a:xfrm>
            <a:prstGeom prst="rect">
              <a:avLst/>
            </a:prstGeom>
          </p:spPr>
        </p:pic>
      </p:grpSp>
      <p:grpSp>
        <p:nvGrpSpPr>
          <p:cNvPr id="111" name="!!competition">
            <a:extLst>
              <a:ext uri="{FF2B5EF4-FFF2-40B4-BE49-F238E27FC236}">
                <a16:creationId xmlns:a16="http://schemas.microsoft.com/office/drawing/2014/main" id="{A38DA15A-EDAF-D7D1-E4A2-ADB503D14FF0}"/>
              </a:ext>
            </a:extLst>
          </p:cNvPr>
          <p:cNvGrpSpPr/>
          <p:nvPr/>
        </p:nvGrpSpPr>
        <p:grpSpPr>
          <a:xfrm>
            <a:off x="8787878" y="1917649"/>
            <a:ext cx="507586" cy="507586"/>
            <a:chOff x="7790768" y="1868829"/>
            <a:chExt cx="507586" cy="507586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A4ECD52-FC45-BE81-5607-1EACF898E476}"/>
                </a:ext>
              </a:extLst>
            </p:cNvPr>
            <p:cNvSpPr/>
            <p:nvPr/>
          </p:nvSpPr>
          <p:spPr>
            <a:xfrm>
              <a:off x="7790768" y="1868829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13" name="Graphic 112">
              <a:extLst>
                <a:ext uri="{FF2B5EF4-FFF2-40B4-BE49-F238E27FC236}">
                  <a16:creationId xmlns:a16="http://schemas.microsoft.com/office/drawing/2014/main" id="{A7042EB4-E775-C9F5-4107-E17F5847A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918561" y="1996622"/>
              <a:ext cx="252000" cy="252000"/>
            </a:xfrm>
            <a:prstGeom prst="rect">
              <a:avLst/>
            </a:prstGeom>
          </p:spPr>
        </p:pic>
      </p:grpSp>
      <p:grpSp>
        <p:nvGrpSpPr>
          <p:cNvPr id="114" name="!!financials">
            <a:extLst>
              <a:ext uri="{FF2B5EF4-FFF2-40B4-BE49-F238E27FC236}">
                <a16:creationId xmlns:a16="http://schemas.microsoft.com/office/drawing/2014/main" id="{AF69D5A7-292C-208C-2C3B-0888F50AA762}"/>
              </a:ext>
            </a:extLst>
          </p:cNvPr>
          <p:cNvGrpSpPr/>
          <p:nvPr/>
        </p:nvGrpSpPr>
        <p:grpSpPr>
          <a:xfrm>
            <a:off x="7897432" y="4041607"/>
            <a:ext cx="507586" cy="507586"/>
            <a:chOff x="8769760" y="4481585"/>
            <a:chExt cx="507586" cy="507586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F054C56-E672-E4B6-04C9-35767206F4F3}"/>
                </a:ext>
              </a:extLst>
            </p:cNvPr>
            <p:cNvSpPr/>
            <p:nvPr/>
          </p:nvSpPr>
          <p:spPr>
            <a:xfrm>
              <a:off x="8769760" y="4481585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16" name="Graphic 115" descr="Head with gears">
              <a:extLst>
                <a:ext uri="{FF2B5EF4-FFF2-40B4-BE49-F238E27FC236}">
                  <a16:creationId xmlns:a16="http://schemas.microsoft.com/office/drawing/2014/main" id="{388FB701-4737-34FB-B142-FABD96D6D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8897553" y="4609378"/>
              <a:ext cx="252000" cy="252000"/>
            </a:xfrm>
            <a:prstGeom prst="rect">
              <a:avLst/>
            </a:prstGeom>
          </p:spPr>
        </p:pic>
      </p:grpSp>
      <p:grpSp>
        <p:nvGrpSpPr>
          <p:cNvPr id="117" name="!!team">
            <a:extLst>
              <a:ext uri="{FF2B5EF4-FFF2-40B4-BE49-F238E27FC236}">
                <a16:creationId xmlns:a16="http://schemas.microsoft.com/office/drawing/2014/main" id="{BF8EA430-7BE0-C952-3460-EF403EE26AFC}"/>
              </a:ext>
            </a:extLst>
          </p:cNvPr>
          <p:cNvGrpSpPr/>
          <p:nvPr/>
        </p:nvGrpSpPr>
        <p:grpSpPr>
          <a:xfrm>
            <a:off x="9110646" y="2824776"/>
            <a:ext cx="507586" cy="507586"/>
            <a:chOff x="9748751" y="1868829"/>
            <a:chExt cx="507586" cy="507586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948F951-A67C-76B0-7315-7D6113CEF3E5}"/>
                </a:ext>
              </a:extLst>
            </p:cNvPr>
            <p:cNvSpPr/>
            <p:nvPr/>
          </p:nvSpPr>
          <p:spPr>
            <a:xfrm>
              <a:off x="9748751" y="1868829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19" name="Graphic 118">
              <a:extLst>
                <a:ext uri="{FF2B5EF4-FFF2-40B4-BE49-F238E27FC236}">
                  <a16:creationId xmlns:a16="http://schemas.microsoft.com/office/drawing/2014/main" id="{45AB6F8C-9C3C-6949-CA22-BAD02A87E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76544" y="1996622"/>
              <a:ext cx="252000" cy="252000"/>
            </a:xfrm>
            <a:prstGeom prst="rect">
              <a:avLst/>
            </a:prstGeom>
          </p:spPr>
        </p:pic>
      </p:grpSp>
      <p:sp useBgFill="1"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A420111-AE35-BCBA-8E61-F7CE753B5A29}"/>
              </a:ext>
            </a:extLst>
          </p:cNvPr>
          <p:cNvSpPr/>
          <p:nvPr/>
        </p:nvSpPr>
        <p:spPr>
          <a:xfrm>
            <a:off x="269875" y="6182644"/>
            <a:ext cx="2040417" cy="403894"/>
          </a:xfrm>
          <a:prstGeom prst="roundRect">
            <a:avLst>
              <a:gd name="adj" fmla="val 50000"/>
            </a:avLst>
          </a:prstGeom>
          <a:ln w="635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Darker Grotesque" pitchFamily="2" charset="0"/>
              </a:rPr>
              <a:t>Presented by: Group 01</a:t>
            </a:r>
            <a:endParaRPr lang="en-GB" sz="1200" dirty="0">
              <a:solidFill>
                <a:schemeClr val="tx1"/>
              </a:solidFill>
              <a:latin typeface="Darker Grotesque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15CEDA-CEE1-503D-CE16-022E8505F8B5}"/>
              </a:ext>
            </a:extLst>
          </p:cNvPr>
          <p:cNvSpPr txBox="1"/>
          <p:nvPr/>
        </p:nvSpPr>
        <p:spPr>
          <a:xfrm>
            <a:off x="3576037" y="3640248"/>
            <a:ext cx="3445174" cy="1058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i="1" u="none" strike="noStrike" kern="1200" cap="none" spc="-150" normalizeH="0" baseline="0" noProof="0" dirty="0">
                <a:ln>
                  <a:noFill/>
                </a:ln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Playfair Display" pitchFamily="2" charset="0"/>
              </a:rPr>
              <a:t>System</a:t>
            </a:r>
          </a:p>
        </p:txBody>
      </p:sp>
      <p:sp>
        <p:nvSpPr>
          <p:cNvPr id="21" name="Slide Title">
            <a:extLst>
              <a:ext uri="{FF2B5EF4-FFF2-40B4-BE49-F238E27FC236}">
                <a16:creationId xmlns:a16="http://schemas.microsoft.com/office/drawing/2014/main" id="{9FD71554-2375-576F-209C-05192E70BC3C}"/>
              </a:ext>
            </a:extLst>
          </p:cNvPr>
          <p:cNvSpPr txBox="1"/>
          <p:nvPr/>
        </p:nvSpPr>
        <p:spPr>
          <a:xfrm>
            <a:off x="2760591" y="2790644"/>
            <a:ext cx="3835922" cy="1199687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defPPr>
              <a:defRPr lang="en-US"/>
            </a:defPPr>
            <a:lvl1pPr algn="ctr">
              <a:defRPr sz="5400">
                <a:solidFill>
                  <a:schemeClr val="bg1"/>
                </a:solidFill>
                <a:latin typeface="Orbitron Black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55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1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Darker Grotesque SemiBold" pitchFamily="2" charset="0"/>
              </a:rPr>
              <a:t>Portal</a:t>
            </a:r>
            <a:r>
              <a:rPr kumimoji="0" lang="en-US" sz="11500" b="0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Darker Grotesque SemiBold" pitchFamily="2" charset="0"/>
              </a:rPr>
              <a:t> </a:t>
            </a:r>
            <a:endParaRPr kumimoji="0" lang="en-US" sz="11500" b="0" i="1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88900" dist="88900" dir="2700000" algn="tl" rotWithShape="0">
                  <a:prstClr val="black">
                    <a:alpha val="50000"/>
                  </a:prstClr>
                </a:outerShdw>
              </a:effectLst>
              <a:uLnTx/>
              <a:uFillTx/>
              <a:latin typeface="Playfair Display" pitchFamily="2" charset="0"/>
            </a:endParaRPr>
          </a:p>
        </p:txBody>
      </p:sp>
      <p:sp useBgFill="1">
        <p:nvSpPr>
          <p:cNvPr id="2" name="Oval 1">
            <a:extLst>
              <a:ext uri="{FF2B5EF4-FFF2-40B4-BE49-F238E27FC236}">
                <a16:creationId xmlns:a16="http://schemas.microsoft.com/office/drawing/2014/main" id="{FF5A31A3-BF28-2433-3BBF-115CE72C0109}"/>
              </a:ext>
            </a:extLst>
          </p:cNvPr>
          <p:cNvSpPr/>
          <p:nvPr/>
        </p:nvSpPr>
        <p:spPr>
          <a:xfrm>
            <a:off x="749028" y="952238"/>
            <a:ext cx="865705" cy="865703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3" name="Oval 2">
            <a:extLst>
              <a:ext uri="{FF2B5EF4-FFF2-40B4-BE49-F238E27FC236}">
                <a16:creationId xmlns:a16="http://schemas.microsoft.com/office/drawing/2014/main" id="{A232ADF8-5A6D-1920-3C3D-D66020BEAB3E}"/>
              </a:ext>
            </a:extLst>
          </p:cNvPr>
          <p:cNvSpPr/>
          <p:nvPr/>
        </p:nvSpPr>
        <p:spPr>
          <a:xfrm>
            <a:off x="819836" y="1963369"/>
            <a:ext cx="416014" cy="416013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4" name="Oval 3">
            <a:extLst>
              <a:ext uri="{FF2B5EF4-FFF2-40B4-BE49-F238E27FC236}">
                <a16:creationId xmlns:a16="http://schemas.microsoft.com/office/drawing/2014/main" id="{AB3CD34B-7123-36FB-E248-42347FE8B355}"/>
              </a:ext>
            </a:extLst>
          </p:cNvPr>
          <p:cNvSpPr/>
          <p:nvPr/>
        </p:nvSpPr>
        <p:spPr>
          <a:xfrm>
            <a:off x="570028" y="1715002"/>
            <a:ext cx="244030" cy="244029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>
        <p:nvSpPr>
          <p:cNvPr id="30" name="Slide Title">
            <a:extLst>
              <a:ext uri="{FF2B5EF4-FFF2-40B4-BE49-F238E27FC236}">
                <a16:creationId xmlns:a16="http://schemas.microsoft.com/office/drawing/2014/main" id="{50869B1A-C228-34B2-D439-4247C207C481}"/>
              </a:ext>
            </a:extLst>
          </p:cNvPr>
          <p:cNvSpPr txBox="1"/>
          <p:nvPr/>
        </p:nvSpPr>
        <p:spPr>
          <a:xfrm>
            <a:off x="1292207" y="1798018"/>
            <a:ext cx="5757923" cy="1199687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defPPr>
              <a:defRPr lang="en-US"/>
            </a:defPPr>
            <a:lvl1pPr algn="ctr">
              <a:defRPr sz="5400">
                <a:solidFill>
                  <a:schemeClr val="bg1"/>
                </a:solidFill>
                <a:latin typeface="Orbitron Black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55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spc="-150" dirty="0">
                <a:solidFill>
                  <a:schemeClr val="tx1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latin typeface="Darker Grotesque SemiBold" pitchFamily="2" charset="0"/>
              </a:rPr>
              <a:t>Academic</a:t>
            </a:r>
            <a:endParaRPr kumimoji="0" lang="en-US" sz="11500" b="0" i="1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88900" dist="88900" dir="2700000" algn="tl" rotWithShape="0">
                  <a:prstClr val="black">
                    <a:alpha val="50000"/>
                  </a:prstClr>
                </a:outerShdw>
              </a:effectLst>
              <a:uLnTx/>
              <a:uFillTx/>
              <a:latin typeface="Playfair Display" pitchFamily="2" charset="0"/>
            </a:endParaRPr>
          </a:p>
        </p:txBody>
      </p:sp>
      <p:sp>
        <p:nvSpPr>
          <p:cNvPr id="5" name="Slide Title">
            <a:extLst>
              <a:ext uri="{FF2B5EF4-FFF2-40B4-BE49-F238E27FC236}">
                <a16:creationId xmlns:a16="http://schemas.microsoft.com/office/drawing/2014/main" id="{80E8DA2C-5834-5AA3-E38E-832B009BE6B1}"/>
              </a:ext>
            </a:extLst>
          </p:cNvPr>
          <p:cNvSpPr txBox="1"/>
          <p:nvPr/>
        </p:nvSpPr>
        <p:spPr>
          <a:xfrm>
            <a:off x="5408633" y="-790389"/>
            <a:ext cx="1374735" cy="67063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defPPr>
              <a:defRPr lang="en-US"/>
            </a:defPPr>
            <a:lvl1pPr algn="ctr">
              <a:defRPr sz="5400">
                <a:solidFill>
                  <a:schemeClr val="bg1"/>
                </a:solidFill>
                <a:latin typeface="Orbitron Black" pitchFamily="2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55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Darker Grotesque SemiBold" pitchFamily="2" charset="0"/>
              </a:rPr>
              <a:t>Table of</a:t>
            </a:r>
          </a:p>
          <a:p>
            <a:pPr marL="0" marR="0" lvl="0" indent="0" defTabSz="914400" rtl="0" eaLnBrk="1" fontAlgn="auto" latinLnBrk="0" hangingPunct="1">
              <a:lnSpc>
                <a:spcPct val="55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Playfair Display" pitchFamily="2" charset="0"/>
              </a:rPr>
              <a:t>Contents</a:t>
            </a:r>
            <a:r>
              <a:rPr kumimoji="0" lang="en-US" sz="3200" b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Darker Grotesque SemiBold" pitchFamily="2" charset="0"/>
              </a:rPr>
              <a:t> </a:t>
            </a:r>
            <a:endParaRPr kumimoji="0" lang="en-US" sz="3200" b="0" i="1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88900" dist="88900" dir="2700000" algn="tl" rotWithShape="0">
                  <a:prstClr val="black">
                    <a:alpha val="50000"/>
                  </a:prstClr>
                </a:outerShdw>
              </a:effectLst>
              <a:uLnTx/>
              <a:uFillTx/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74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11111E-6 L 4.79167E-6 0.11389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95833E-6 -4.44444E-6 L -3.95833E-6 0.11389 " pathEditMode="relative" rAng="0" ptsTypes="AA">
                                      <p:cBhvr>
                                        <p:cTn id="14" dur="12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6 -3.7037E-6 L -4.16667E-6 0.11389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4.81481E-6 L 0 0.11389 " pathEditMode="relative" rAng="0" ptsTypes="AA">
                                      <p:cBhvr>
                                        <p:cTn id="24" dur="12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9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91" dur="1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93" dur="1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95" dur="1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97" dur="1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99" dur="1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101" dur="1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103" dur="1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105" dur="1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" presetID="8" presetClass="emp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107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8" presetClass="emp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109" dur="1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" presetID="8" presetClass="emp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111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" presetID="8" presetClass="emp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11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" presetID="8" presetClass="emp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115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2" grpId="1" animBg="1"/>
      <p:bldP spid="33" grpId="0" animBg="1"/>
      <p:bldP spid="33" grpId="1" animBg="1"/>
      <p:bldP spid="20" grpId="0"/>
      <p:bldP spid="20" grpId="1"/>
      <p:bldP spid="21" grpId="0"/>
      <p:bldP spid="21" grpId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30" grpId="0"/>
      <p:bldP spid="3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10F48D5-EE9C-9633-579B-11E830EA1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5" r="5815"/>
          <a:stretch/>
        </p:blipFill>
        <p:spPr>
          <a:xfrm>
            <a:off x="4" y="2"/>
            <a:ext cx="12191996" cy="6857998"/>
          </a:xfrm>
          <a:prstGeom prst="rect">
            <a:avLst/>
          </a:prstGeom>
        </p:spPr>
      </p:pic>
      <p:sp useBgFill="1">
        <p:nvSpPr>
          <p:cNvPr id="11" name="!!mission_big">
            <a:extLst>
              <a:ext uri="{FF2B5EF4-FFF2-40B4-BE49-F238E27FC236}">
                <a16:creationId xmlns:a16="http://schemas.microsoft.com/office/drawing/2014/main" id="{6001EAF3-99DE-071D-640E-27373C22F4EC}"/>
              </a:ext>
            </a:extLst>
          </p:cNvPr>
          <p:cNvSpPr/>
          <p:nvPr/>
        </p:nvSpPr>
        <p:spPr>
          <a:xfrm>
            <a:off x="2447824" y="2042145"/>
            <a:ext cx="1422400" cy="1422400"/>
          </a:xfrm>
          <a:prstGeom prst="ellipse">
            <a:avLst/>
          </a:prstGeom>
          <a:ln w="6350">
            <a:noFill/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5" name="!!solution_big">
            <a:extLst>
              <a:ext uri="{FF2B5EF4-FFF2-40B4-BE49-F238E27FC236}">
                <a16:creationId xmlns:a16="http://schemas.microsoft.com/office/drawing/2014/main" id="{01485104-FBE1-6D05-D1EB-C70693B8A671}"/>
              </a:ext>
            </a:extLst>
          </p:cNvPr>
          <p:cNvSpPr/>
          <p:nvPr/>
        </p:nvSpPr>
        <p:spPr>
          <a:xfrm>
            <a:off x="3380382" y="3680144"/>
            <a:ext cx="1422400" cy="1422400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4" name="Section Zoom 53">
                <a:extLst>
                  <a:ext uri="{FF2B5EF4-FFF2-40B4-BE49-F238E27FC236}">
                    <a16:creationId xmlns:a16="http://schemas.microsoft.com/office/drawing/2014/main" id="{DBC6B9C2-6600-0373-E3D5-6E3846853C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8058740"/>
                  </p:ext>
                </p:extLst>
              </p:nvPr>
            </p:nvGraphicFramePr>
            <p:xfrm>
              <a:off x="2556079" y="2414188"/>
              <a:ext cx="1205890" cy="678314"/>
            </p:xfrm>
            <a:graphic>
              <a:graphicData uri="http://schemas.microsoft.com/office/powerpoint/2016/sectionzoom">
                <psez:sectionZm>
                  <psez:sectionZmObj sectionId="{88495344-40FB-4841-99CC-E364E4B3FA60}">
                    <psez:zmPr id="{2045F387-F9C1-4234-AB40-2F706D3FBEEE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05890" cy="67831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4" name="Section Zoom 53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DBC6B9C2-6600-0373-E3D5-6E3846853C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56079" y="2414188"/>
                <a:ext cx="1205890" cy="67831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p:sp useBgFill="1">
        <p:nvSpPr>
          <p:cNvPr id="21" name="!!potential_big">
            <a:extLst>
              <a:ext uri="{FF2B5EF4-FFF2-40B4-BE49-F238E27FC236}">
                <a16:creationId xmlns:a16="http://schemas.microsoft.com/office/drawing/2014/main" id="{451ADC09-786B-7817-12A7-45589629C4FD}"/>
              </a:ext>
            </a:extLst>
          </p:cNvPr>
          <p:cNvSpPr/>
          <p:nvPr/>
        </p:nvSpPr>
        <p:spPr>
          <a:xfrm>
            <a:off x="4297552" y="1990922"/>
            <a:ext cx="1422400" cy="1422400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40" name="!!growth_big">
            <a:extLst>
              <a:ext uri="{FF2B5EF4-FFF2-40B4-BE49-F238E27FC236}">
                <a16:creationId xmlns:a16="http://schemas.microsoft.com/office/drawing/2014/main" id="{1E4D5046-D93E-1283-7C95-8297912863DF}"/>
              </a:ext>
            </a:extLst>
          </p:cNvPr>
          <p:cNvSpPr/>
          <p:nvPr/>
        </p:nvSpPr>
        <p:spPr>
          <a:xfrm>
            <a:off x="5338366" y="3665075"/>
            <a:ext cx="1422400" cy="1422400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41" name="!!competition_big">
            <a:extLst>
              <a:ext uri="{FF2B5EF4-FFF2-40B4-BE49-F238E27FC236}">
                <a16:creationId xmlns:a16="http://schemas.microsoft.com/office/drawing/2014/main" id="{CB47AF06-08C1-C824-3CDC-6718A25A5568}"/>
              </a:ext>
            </a:extLst>
          </p:cNvPr>
          <p:cNvSpPr/>
          <p:nvPr/>
        </p:nvSpPr>
        <p:spPr>
          <a:xfrm>
            <a:off x="6363790" y="2006600"/>
            <a:ext cx="1422400" cy="1422400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51" name="!!finanvials_big">
            <a:extLst>
              <a:ext uri="{FF2B5EF4-FFF2-40B4-BE49-F238E27FC236}">
                <a16:creationId xmlns:a16="http://schemas.microsoft.com/office/drawing/2014/main" id="{C1A01352-BCE7-17AB-4430-ACC0B0082F50}"/>
              </a:ext>
            </a:extLst>
          </p:cNvPr>
          <p:cNvSpPr/>
          <p:nvPr/>
        </p:nvSpPr>
        <p:spPr>
          <a:xfrm>
            <a:off x="7296350" y="3665075"/>
            <a:ext cx="1422400" cy="1422400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 useBgFill="1">
        <p:nvSpPr>
          <p:cNvPr id="52" name="!!team_big">
            <a:extLst>
              <a:ext uri="{FF2B5EF4-FFF2-40B4-BE49-F238E27FC236}">
                <a16:creationId xmlns:a16="http://schemas.microsoft.com/office/drawing/2014/main" id="{B302DE39-6CAA-0299-5B01-34FB4ACE7015}"/>
              </a:ext>
            </a:extLst>
          </p:cNvPr>
          <p:cNvSpPr/>
          <p:nvPr/>
        </p:nvSpPr>
        <p:spPr>
          <a:xfrm>
            <a:off x="8321773" y="2006600"/>
            <a:ext cx="1422400" cy="1422400"/>
          </a:xfrm>
          <a:prstGeom prst="ellipse">
            <a:avLst/>
          </a:prstGeom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sp>
        <p:nvSpPr>
          <p:cNvPr id="76" name="Slide Title">
            <a:extLst>
              <a:ext uri="{FF2B5EF4-FFF2-40B4-BE49-F238E27FC236}">
                <a16:creationId xmlns:a16="http://schemas.microsoft.com/office/drawing/2014/main" id="{F1C16585-D5BD-D317-3939-4561F6529330}"/>
              </a:ext>
            </a:extLst>
          </p:cNvPr>
          <p:cNvSpPr txBox="1"/>
          <p:nvPr/>
        </p:nvSpPr>
        <p:spPr>
          <a:xfrm>
            <a:off x="5408633" y="290756"/>
            <a:ext cx="1374735" cy="67063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defPPr>
              <a:defRPr lang="en-US"/>
            </a:defPPr>
            <a:lvl1pPr algn="ctr">
              <a:defRPr sz="5400">
                <a:solidFill>
                  <a:schemeClr val="bg1"/>
                </a:solidFill>
                <a:latin typeface="Orbitron Black" pitchFamily="2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55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Darker Grotesque SemiBold" pitchFamily="2" charset="0"/>
              </a:rPr>
              <a:t>Table of</a:t>
            </a:r>
          </a:p>
          <a:p>
            <a:pPr marL="0" marR="0" lvl="0" indent="0" defTabSz="914400" rtl="0" eaLnBrk="1" fontAlgn="auto" latinLnBrk="0" hangingPunct="1">
              <a:lnSpc>
                <a:spcPct val="55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Playfair Display" pitchFamily="2" charset="0"/>
              </a:rPr>
              <a:t>Contents</a:t>
            </a:r>
            <a:r>
              <a:rPr kumimoji="0" lang="en-US" sz="3200" b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88900" dist="88900" dir="2700000" algn="tl" rotWithShape="0">
                    <a:prstClr val="black">
                      <a:alpha val="50000"/>
                    </a:prstClr>
                  </a:outerShdw>
                </a:effectLst>
                <a:uLnTx/>
                <a:uFillTx/>
                <a:latin typeface="Darker Grotesque SemiBold" pitchFamily="2" charset="0"/>
              </a:rPr>
              <a:t> </a:t>
            </a:r>
            <a:endParaRPr kumimoji="0" lang="en-US" sz="3200" b="0" i="1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88900" dist="88900" dir="2700000" algn="tl" rotWithShape="0">
                  <a:prstClr val="black">
                    <a:alpha val="50000"/>
                  </a:prstClr>
                </a:outerShdw>
              </a:effectLst>
              <a:uLnTx/>
              <a:uFillTx/>
              <a:latin typeface="Playfair Display" pitchFamily="2" charset="0"/>
            </a:endParaRPr>
          </a:p>
        </p:txBody>
      </p:sp>
      <p:grpSp>
        <p:nvGrpSpPr>
          <p:cNvPr id="77" name="!!mission">
            <a:extLst>
              <a:ext uri="{FF2B5EF4-FFF2-40B4-BE49-F238E27FC236}">
                <a16:creationId xmlns:a16="http://schemas.microsoft.com/office/drawing/2014/main" id="{4D0C00DC-150A-FD9D-4EE1-B24D3FCF6B7B}"/>
              </a:ext>
            </a:extLst>
          </p:cNvPr>
          <p:cNvGrpSpPr/>
          <p:nvPr/>
        </p:nvGrpSpPr>
        <p:grpSpPr>
          <a:xfrm>
            <a:off x="2905231" y="1841615"/>
            <a:ext cx="507586" cy="507586"/>
            <a:chOff x="1700837" y="1711757"/>
            <a:chExt cx="507586" cy="507586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9B6FF81-6FE6-C909-6253-D0FEA76AB50A}"/>
                </a:ext>
              </a:extLst>
            </p:cNvPr>
            <p:cNvSpPr/>
            <p:nvPr/>
          </p:nvSpPr>
          <p:spPr>
            <a:xfrm>
              <a:off x="1700837" y="1711757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800F1B16-217C-9DC0-72A3-A42F92330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28630" y="1839550"/>
              <a:ext cx="252000" cy="252000"/>
            </a:xfrm>
            <a:prstGeom prst="rect">
              <a:avLst/>
            </a:prstGeom>
          </p:spPr>
        </p:pic>
      </p:grpSp>
      <p:grpSp>
        <p:nvGrpSpPr>
          <p:cNvPr id="83" name="!!solution">
            <a:extLst>
              <a:ext uri="{FF2B5EF4-FFF2-40B4-BE49-F238E27FC236}">
                <a16:creationId xmlns:a16="http://schemas.microsoft.com/office/drawing/2014/main" id="{02C93F58-6DE8-870C-D1AE-B70C074E0601}"/>
              </a:ext>
            </a:extLst>
          </p:cNvPr>
          <p:cNvGrpSpPr/>
          <p:nvPr/>
        </p:nvGrpSpPr>
        <p:grpSpPr>
          <a:xfrm>
            <a:off x="3837789" y="4810557"/>
            <a:ext cx="507586" cy="507586"/>
            <a:chOff x="3825777" y="2263184"/>
            <a:chExt cx="507586" cy="507586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F414691-D85D-55A6-6399-3CD06D7FCFFF}"/>
                </a:ext>
              </a:extLst>
            </p:cNvPr>
            <p:cNvSpPr/>
            <p:nvPr/>
          </p:nvSpPr>
          <p:spPr>
            <a:xfrm>
              <a:off x="3825777" y="2263184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5CF24868-AC3E-1F7F-E655-7F620EAAA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53570" y="2390977"/>
              <a:ext cx="252000" cy="252000"/>
            </a:xfrm>
            <a:prstGeom prst="rect">
              <a:avLst/>
            </a:prstGeom>
          </p:spPr>
        </p:pic>
      </p:grpSp>
      <p:grpSp>
        <p:nvGrpSpPr>
          <p:cNvPr id="86" name="!!potential">
            <a:extLst>
              <a:ext uri="{FF2B5EF4-FFF2-40B4-BE49-F238E27FC236}">
                <a16:creationId xmlns:a16="http://schemas.microsoft.com/office/drawing/2014/main" id="{76D5D0DE-AA33-7B2C-C884-B10D4689429A}"/>
              </a:ext>
            </a:extLst>
          </p:cNvPr>
          <p:cNvGrpSpPr/>
          <p:nvPr/>
        </p:nvGrpSpPr>
        <p:grpSpPr>
          <a:xfrm>
            <a:off x="4754959" y="1789359"/>
            <a:ext cx="507586" cy="507586"/>
            <a:chOff x="4797684" y="4481585"/>
            <a:chExt cx="507586" cy="507586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0A96CE1-5985-A4D9-DABC-EA7FB44BC0CC}"/>
                </a:ext>
              </a:extLst>
            </p:cNvPr>
            <p:cNvSpPr/>
            <p:nvPr/>
          </p:nvSpPr>
          <p:spPr>
            <a:xfrm>
              <a:off x="4797684" y="4481585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2A1CE0DD-DACD-661A-1B04-6016859A9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25477" y="4609378"/>
              <a:ext cx="252000" cy="252000"/>
            </a:xfrm>
            <a:prstGeom prst="rect">
              <a:avLst/>
            </a:prstGeom>
          </p:spPr>
        </p:pic>
      </p:grpSp>
      <p:grpSp>
        <p:nvGrpSpPr>
          <p:cNvPr id="92" name="!!growth">
            <a:extLst>
              <a:ext uri="{FF2B5EF4-FFF2-40B4-BE49-F238E27FC236}">
                <a16:creationId xmlns:a16="http://schemas.microsoft.com/office/drawing/2014/main" id="{4799AE04-E682-847B-C0E1-01565EE45133}"/>
              </a:ext>
            </a:extLst>
          </p:cNvPr>
          <p:cNvGrpSpPr/>
          <p:nvPr/>
        </p:nvGrpSpPr>
        <p:grpSpPr>
          <a:xfrm>
            <a:off x="5795773" y="4781293"/>
            <a:ext cx="507586" cy="507586"/>
            <a:chOff x="6811776" y="4481585"/>
            <a:chExt cx="507586" cy="507586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5655F16-2ECE-EDA5-6F1F-965804C74FBE}"/>
                </a:ext>
              </a:extLst>
            </p:cNvPr>
            <p:cNvSpPr/>
            <p:nvPr/>
          </p:nvSpPr>
          <p:spPr>
            <a:xfrm>
              <a:off x="6811776" y="4481585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26471ED8-B281-8A51-3506-E86AA66F8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39569" y="4609378"/>
              <a:ext cx="252000" cy="252000"/>
            </a:xfrm>
            <a:prstGeom prst="rect">
              <a:avLst/>
            </a:prstGeom>
          </p:spPr>
        </p:pic>
      </p:grpSp>
      <p:grpSp>
        <p:nvGrpSpPr>
          <p:cNvPr id="95" name="!!competition">
            <a:extLst>
              <a:ext uri="{FF2B5EF4-FFF2-40B4-BE49-F238E27FC236}">
                <a16:creationId xmlns:a16="http://schemas.microsoft.com/office/drawing/2014/main" id="{7B3CFE44-CCB2-0E22-A954-EDDDAD190D76}"/>
              </a:ext>
            </a:extLst>
          </p:cNvPr>
          <p:cNvGrpSpPr/>
          <p:nvPr/>
        </p:nvGrpSpPr>
        <p:grpSpPr>
          <a:xfrm>
            <a:off x="6821197" y="1806070"/>
            <a:ext cx="507586" cy="507586"/>
            <a:chOff x="7790768" y="1868829"/>
            <a:chExt cx="507586" cy="507586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788B742-9A70-2B7D-B38B-7FF78CADE6D8}"/>
                </a:ext>
              </a:extLst>
            </p:cNvPr>
            <p:cNvSpPr/>
            <p:nvPr/>
          </p:nvSpPr>
          <p:spPr>
            <a:xfrm>
              <a:off x="7790768" y="1868829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79C69A43-9E36-291C-6CF0-244B27578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918561" y="1996622"/>
              <a:ext cx="252000" cy="252000"/>
            </a:xfrm>
            <a:prstGeom prst="rect">
              <a:avLst/>
            </a:prstGeom>
          </p:spPr>
        </p:pic>
      </p:grpSp>
      <p:grpSp>
        <p:nvGrpSpPr>
          <p:cNvPr id="98" name="!!financials">
            <a:extLst>
              <a:ext uri="{FF2B5EF4-FFF2-40B4-BE49-F238E27FC236}">
                <a16:creationId xmlns:a16="http://schemas.microsoft.com/office/drawing/2014/main" id="{E0A6DEA5-CA59-57A5-0E30-5A4162D13094}"/>
              </a:ext>
            </a:extLst>
          </p:cNvPr>
          <p:cNvGrpSpPr/>
          <p:nvPr/>
        </p:nvGrpSpPr>
        <p:grpSpPr>
          <a:xfrm>
            <a:off x="7753757" y="4781293"/>
            <a:ext cx="507586" cy="507586"/>
            <a:chOff x="8769760" y="4481585"/>
            <a:chExt cx="507586" cy="507586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094A7F4-7D95-3CCB-D7F6-F42074CE8F7B}"/>
                </a:ext>
              </a:extLst>
            </p:cNvPr>
            <p:cNvSpPr/>
            <p:nvPr/>
          </p:nvSpPr>
          <p:spPr>
            <a:xfrm>
              <a:off x="8769760" y="4481585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00" name="Graphic 99" descr="Head with gears">
              <a:extLst>
                <a:ext uri="{FF2B5EF4-FFF2-40B4-BE49-F238E27FC236}">
                  <a16:creationId xmlns:a16="http://schemas.microsoft.com/office/drawing/2014/main" id="{4409B0E0-3844-50FF-9E5A-258BBD79A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8897553" y="4609378"/>
              <a:ext cx="252000" cy="252000"/>
            </a:xfrm>
            <a:prstGeom prst="rect">
              <a:avLst/>
            </a:prstGeom>
          </p:spPr>
        </p:pic>
      </p:grpSp>
      <p:grpSp>
        <p:nvGrpSpPr>
          <p:cNvPr id="101" name="!!team">
            <a:extLst>
              <a:ext uri="{FF2B5EF4-FFF2-40B4-BE49-F238E27FC236}">
                <a16:creationId xmlns:a16="http://schemas.microsoft.com/office/drawing/2014/main" id="{8E61FCE0-E10A-1420-082C-CE9DBF73E0CA}"/>
              </a:ext>
            </a:extLst>
          </p:cNvPr>
          <p:cNvGrpSpPr/>
          <p:nvPr/>
        </p:nvGrpSpPr>
        <p:grpSpPr>
          <a:xfrm>
            <a:off x="8779180" y="1806070"/>
            <a:ext cx="507586" cy="507586"/>
            <a:chOff x="9748751" y="1868829"/>
            <a:chExt cx="507586" cy="507586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2463592-5F51-250B-F652-A79CA406F0C6}"/>
                </a:ext>
              </a:extLst>
            </p:cNvPr>
            <p:cNvSpPr/>
            <p:nvPr/>
          </p:nvSpPr>
          <p:spPr>
            <a:xfrm>
              <a:off x="9748751" y="1868829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767B9916-BE31-3F3A-5EEC-B9649AD83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876544" y="1996622"/>
              <a:ext cx="252000" cy="252000"/>
            </a:xfrm>
            <a:prstGeom prst="rect">
              <a:avLst/>
            </a:prstGeom>
          </p:spPr>
        </p:pic>
      </p:grp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0" name="Section Zoom 9">
                <a:extLst>
                  <a:ext uri="{FF2B5EF4-FFF2-40B4-BE49-F238E27FC236}">
                    <a16:creationId xmlns:a16="http://schemas.microsoft.com/office/drawing/2014/main" id="{A7B5DE9F-77DA-2216-24D5-A7E51426B6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27946603"/>
                  </p:ext>
                </p:extLst>
              </p:nvPr>
            </p:nvGraphicFramePr>
            <p:xfrm>
              <a:off x="3488636" y="4052187"/>
              <a:ext cx="1205892" cy="678314"/>
            </p:xfrm>
            <a:graphic>
              <a:graphicData uri="http://schemas.microsoft.com/office/powerpoint/2016/sectionzoom">
                <psez:sectionZm>
                  <psez:sectionZmObj sectionId="{B0161835-6204-4266-8552-F3667AA67871}">
                    <psez:zmPr id="{8063EAC8-A51B-4716-95F3-8D194DDEC352}" transitionDur="1000" showBg="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05892" cy="67831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0" name="Section Zoom 9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A7B5DE9F-77DA-2216-24D5-A7E51426B6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88636" y="4052187"/>
                <a:ext cx="1205892" cy="67831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3" name="Section Zoom 12">
                <a:extLst>
                  <a:ext uri="{FF2B5EF4-FFF2-40B4-BE49-F238E27FC236}">
                    <a16:creationId xmlns:a16="http://schemas.microsoft.com/office/drawing/2014/main" id="{8C693734-C934-C86F-DBF3-51A83A1496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6007980"/>
                  </p:ext>
                </p:extLst>
              </p:nvPr>
            </p:nvGraphicFramePr>
            <p:xfrm>
              <a:off x="4405806" y="2362965"/>
              <a:ext cx="1205892" cy="678314"/>
            </p:xfrm>
            <a:graphic>
              <a:graphicData uri="http://schemas.microsoft.com/office/powerpoint/2016/sectionzoom">
                <psez:sectionZm>
                  <psez:sectionZmObj sectionId="{B78F869A-DB52-4C0F-9771-93BD0B0C77E6}">
                    <psez:zmPr id="{25F3C81B-8628-4BDC-A625-35EC4F6BCABF}" transitionDur="1000" showBg="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05892" cy="67831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3" name="Section Zoom 12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8C693734-C934-C86F-DBF3-51A83A1496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405806" y="2362965"/>
                <a:ext cx="1205892" cy="67831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" name="Section Zoom 2">
                <a:extLst>
                  <a:ext uri="{FF2B5EF4-FFF2-40B4-BE49-F238E27FC236}">
                    <a16:creationId xmlns:a16="http://schemas.microsoft.com/office/drawing/2014/main" id="{B1818394-B566-89EC-93B7-0C7F52D96C8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2960158"/>
                  </p:ext>
                </p:extLst>
              </p:nvPr>
            </p:nvGraphicFramePr>
            <p:xfrm>
              <a:off x="5449891" y="4037118"/>
              <a:ext cx="1205892" cy="678314"/>
            </p:xfrm>
            <a:graphic>
              <a:graphicData uri="http://schemas.microsoft.com/office/powerpoint/2016/sectionzoom">
                <psez:sectionZm>
                  <psez:sectionZmObj sectionId="{F496BB06-4A29-4BF5-BA77-B16347F04B8B}">
                    <psez:zmPr id="{CA16EA92-A482-4473-9D2E-4B82CD37A180}" transitionDur="1000" showBg="0">
                      <p166:blipFill xmlns:p166="http://schemas.microsoft.com/office/powerpoint/2016/6/main">
                        <a:blip r:embed="rId2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05892" cy="678314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" name="Section Zoom 2">
                <a:hlinkClick r:id="rId28" action="ppaction://hlinksldjump"/>
                <a:extLst>
                  <a:ext uri="{FF2B5EF4-FFF2-40B4-BE49-F238E27FC236}">
                    <a16:creationId xmlns:a16="http://schemas.microsoft.com/office/drawing/2014/main" id="{B1818394-B566-89EC-93B7-0C7F52D96C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49891" y="4037118"/>
                <a:ext cx="1205892" cy="6783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A64A8C2C-A09D-914F-4D82-0AC210E81E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6294161"/>
                  </p:ext>
                </p:extLst>
              </p:nvPr>
            </p:nvGraphicFramePr>
            <p:xfrm>
              <a:off x="6472044" y="2378643"/>
              <a:ext cx="1205892" cy="678314"/>
            </p:xfrm>
            <a:graphic>
              <a:graphicData uri="http://schemas.microsoft.com/office/powerpoint/2016/sectionzoom">
                <psez:sectionZm>
                  <psez:sectionZmObj sectionId="{5F9BCD4A-9433-48A8-B291-287BE2581A63}">
                    <psez:zmPr id="{18EA1257-2A04-4F60-AC28-AE506CECCC30}" transitionDur="1000" showBg="0">
                      <p166:blipFill xmlns:p166="http://schemas.microsoft.com/office/powerpoint/2016/6/main">
                        <a:blip r:embed="rId3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05892" cy="678314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Section Zoom 7">
                <a:hlinkClick r:id="rId31" action="ppaction://hlinksldjump"/>
                <a:extLst>
                  <a:ext uri="{FF2B5EF4-FFF2-40B4-BE49-F238E27FC236}">
                    <a16:creationId xmlns:a16="http://schemas.microsoft.com/office/drawing/2014/main" id="{A64A8C2C-A09D-914F-4D82-0AC210E81E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472044" y="2378643"/>
                <a:ext cx="1205892" cy="678314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994A7A82-00DA-C962-F4B3-D28B371A26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38627808"/>
                  </p:ext>
                </p:extLst>
              </p:nvPr>
            </p:nvGraphicFramePr>
            <p:xfrm>
              <a:off x="7404604" y="4037118"/>
              <a:ext cx="1205892" cy="678314"/>
            </p:xfrm>
            <a:graphic>
              <a:graphicData uri="http://schemas.microsoft.com/office/powerpoint/2016/sectionzoom">
                <psez:sectionZm>
                  <psez:sectionZmObj sectionId="{DAF8DABC-592A-4901-A0AC-5CDA09D8F45E}">
                    <psez:zmPr id="{B0CC5743-31DA-4C38-8F9F-D13430DC46E4}" transitionDur="1000" showBg="0">
                      <p166:blipFill xmlns:p166="http://schemas.microsoft.com/office/powerpoint/2016/6/main">
                        <a:blip r:embed="rId3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05892" cy="67831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34" action="ppaction://hlinksldjump"/>
                <a:extLst>
                  <a:ext uri="{FF2B5EF4-FFF2-40B4-BE49-F238E27FC236}">
                    <a16:creationId xmlns:a16="http://schemas.microsoft.com/office/drawing/2014/main" id="{994A7A82-00DA-C962-F4B3-D28B371A26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04604" y="4037118"/>
                <a:ext cx="1205892" cy="67831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8" name="Section Zoom 17">
                <a:extLst>
                  <a:ext uri="{FF2B5EF4-FFF2-40B4-BE49-F238E27FC236}">
                    <a16:creationId xmlns:a16="http://schemas.microsoft.com/office/drawing/2014/main" id="{3E37003B-E503-7160-A212-66213D34C0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1687449"/>
                  </p:ext>
                </p:extLst>
              </p:nvPr>
            </p:nvGraphicFramePr>
            <p:xfrm>
              <a:off x="8430027" y="2378643"/>
              <a:ext cx="1205892" cy="678314"/>
            </p:xfrm>
            <a:graphic>
              <a:graphicData uri="http://schemas.microsoft.com/office/powerpoint/2016/sectionzoom">
                <psez:sectionZm>
                  <psez:sectionZmObj sectionId="{98810976-D7DB-4275-9710-9A2889E2A734}">
                    <psez:zmPr id="{F08AC0D9-533E-4A9B-AE6D-5C782F66EA32}" transitionDur="1000" showBg="0">
                      <p166:blipFill xmlns:p166="http://schemas.microsoft.com/office/powerpoint/2016/6/main">
                        <a:blip r:embed="rId3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05892" cy="678314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8" name="Section Zoom 17">
                <a:hlinkClick r:id="rId37" action="ppaction://hlinksldjump"/>
                <a:extLst>
                  <a:ext uri="{FF2B5EF4-FFF2-40B4-BE49-F238E27FC236}">
                    <a16:creationId xmlns:a16="http://schemas.microsoft.com/office/drawing/2014/main" id="{3E37003B-E503-7160-A212-66213D34C0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30027" y="2378643"/>
                <a:ext cx="1205892" cy="678314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  <p:sp useBgFill="1">
        <p:nvSpPr>
          <p:cNvPr id="6" name="Rectangle: Rounded Corners 5">
            <a:extLst>
              <a:ext uri="{FF2B5EF4-FFF2-40B4-BE49-F238E27FC236}">
                <a16:creationId xmlns:a16="http://schemas.microsoft.com/office/drawing/2014/main" id="{2070545B-9BE8-54D6-602B-425EB090B222}"/>
              </a:ext>
            </a:extLst>
          </p:cNvPr>
          <p:cNvSpPr/>
          <p:nvPr/>
        </p:nvSpPr>
        <p:spPr>
          <a:xfrm>
            <a:off x="269875" y="6182644"/>
            <a:ext cx="2040417" cy="403894"/>
          </a:xfrm>
          <a:prstGeom prst="roundRect">
            <a:avLst>
              <a:gd name="adj" fmla="val 50000"/>
            </a:avLst>
          </a:prstGeom>
          <a:ln w="6350">
            <a:solidFill>
              <a:srgbClr val="47342D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Darker Grotesque" pitchFamily="2" charset="0"/>
              </a:rPr>
              <a:t>Presented by: Group 01</a:t>
            </a:r>
            <a:endParaRPr lang="en-GB" sz="1200" dirty="0">
              <a:solidFill>
                <a:schemeClr val="tx1"/>
              </a:solidFill>
              <a:latin typeface="Darker Grotesqu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787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CBEE47-4141-2200-9A33-ADE75DA0B25B}"/>
              </a:ext>
            </a:extLst>
          </p:cNvPr>
          <p:cNvSpPr txBox="1"/>
          <p:nvPr/>
        </p:nvSpPr>
        <p:spPr>
          <a:xfrm>
            <a:off x="-257501" y="2198663"/>
            <a:ext cx="12707005" cy="22713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Darker Grotesque" pitchFamily="2" charset="0"/>
              </a:rPr>
              <a:t>Introduction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874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D71B04-A06D-A176-6B96-5250AD809BBC}"/>
              </a:ext>
            </a:extLst>
          </p:cNvPr>
          <p:cNvSpPr txBox="1"/>
          <p:nvPr/>
        </p:nvSpPr>
        <p:spPr>
          <a:xfrm>
            <a:off x="299484" y="407551"/>
            <a:ext cx="1173398" cy="1855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prstClr val="white"/>
                </a:solidFill>
                <a:latin typeface="Darker Grotesque" pitchFamily="2" charset="0"/>
              </a:rPr>
              <a:t>Introduction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arker Grotesque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78C0B1-9145-3B15-D39F-A30E0292DE88}"/>
              </a:ext>
            </a:extLst>
          </p:cNvPr>
          <p:cNvGrpSpPr/>
          <p:nvPr/>
        </p:nvGrpSpPr>
        <p:grpSpPr>
          <a:xfrm>
            <a:off x="299484" y="369986"/>
            <a:ext cx="11644423" cy="507586"/>
            <a:chOff x="299484" y="369986"/>
            <a:chExt cx="11644423" cy="5075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E788B0-3D24-B444-9A30-B6D3868BFED3}"/>
                </a:ext>
              </a:extLst>
            </p:cNvPr>
            <p:cNvCxnSpPr/>
            <p:nvPr/>
          </p:nvCxnSpPr>
          <p:spPr>
            <a:xfrm>
              <a:off x="299484" y="623779"/>
              <a:ext cx="11644423" cy="0"/>
            </a:xfrm>
            <a:prstGeom prst="line">
              <a:avLst/>
            </a:prstGeom>
            <a:noFill/>
            <a:ln w="6350" cap="rnd">
              <a:solidFill>
                <a:schemeClr val="bg1">
                  <a:alpha val="5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" name="!!mission">
              <a:extLst>
                <a:ext uri="{FF2B5EF4-FFF2-40B4-BE49-F238E27FC236}">
                  <a16:creationId xmlns:a16="http://schemas.microsoft.com/office/drawing/2014/main" id="{98F7707E-45E4-7874-747F-539EE3211649}"/>
                </a:ext>
              </a:extLst>
            </p:cNvPr>
            <p:cNvGrpSpPr/>
            <p:nvPr/>
          </p:nvGrpSpPr>
          <p:grpSpPr>
            <a:xfrm>
              <a:off x="5842207" y="369986"/>
              <a:ext cx="507586" cy="507586"/>
              <a:chOff x="1700837" y="1711757"/>
              <a:chExt cx="507586" cy="507586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74FF9FF-5E40-050C-56CC-5CC8886A5C3A}"/>
                  </a:ext>
                </a:extLst>
              </p:cNvPr>
              <p:cNvSpPr/>
              <p:nvPr/>
            </p:nvSpPr>
            <p:spPr>
              <a:xfrm>
                <a:off x="1700837" y="1711757"/>
                <a:ext cx="507586" cy="507586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bg1"/>
                </a:solidFill>
              </a:ln>
              <a:effectLst>
                <a:innerShdw blurRad="279400">
                  <a:schemeClr val="bg1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GB" dirty="0">
                  <a:latin typeface="Darker Grotesque" pitchFamily="2" charset="0"/>
                </a:endParaRPr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AFDAC79A-DBA9-31BE-8292-1DCB10D53F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28630" y="1839550"/>
                <a:ext cx="252000" cy="252000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E0D7881-7839-5C2F-48A1-082A1D7C01F8}"/>
              </a:ext>
            </a:extLst>
          </p:cNvPr>
          <p:cNvSpPr txBox="1"/>
          <p:nvPr/>
        </p:nvSpPr>
        <p:spPr>
          <a:xfrm>
            <a:off x="488272" y="877571"/>
            <a:ext cx="454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Why this Project?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E76FD79-92D2-E325-3737-3DB49073EE03}"/>
              </a:ext>
            </a:extLst>
          </p:cNvPr>
          <p:cNvSpPr/>
          <p:nvPr/>
        </p:nvSpPr>
        <p:spPr>
          <a:xfrm>
            <a:off x="656948" y="1864311"/>
            <a:ext cx="559293" cy="5592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E5DFD0-A5FF-22B7-DDEC-46F8E2384037}"/>
              </a:ext>
            </a:extLst>
          </p:cNvPr>
          <p:cNvSpPr/>
          <p:nvPr/>
        </p:nvSpPr>
        <p:spPr>
          <a:xfrm>
            <a:off x="656947" y="5153043"/>
            <a:ext cx="559293" cy="5592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98D8F9-71B9-8388-4FC2-689363B7C663}"/>
              </a:ext>
            </a:extLst>
          </p:cNvPr>
          <p:cNvSpPr/>
          <p:nvPr/>
        </p:nvSpPr>
        <p:spPr>
          <a:xfrm>
            <a:off x="656946" y="3508677"/>
            <a:ext cx="559293" cy="5592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78EF7-9CA5-2785-50B0-2040BFEE9943}"/>
              </a:ext>
            </a:extLst>
          </p:cNvPr>
          <p:cNvSpPr txBox="1"/>
          <p:nvPr/>
        </p:nvSpPr>
        <p:spPr>
          <a:xfrm>
            <a:off x="1371600" y="1940560"/>
            <a:ext cx="3662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Manual record-keeping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59B5DA-03F5-34FA-DD60-0787DB414824}"/>
              </a:ext>
            </a:extLst>
          </p:cNvPr>
          <p:cNvSpPr txBox="1"/>
          <p:nvPr/>
        </p:nvSpPr>
        <p:spPr>
          <a:xfrm>
            <a:off x="1371598" y="3588268"/>
            <a:ext cx="3662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No single access point 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CBA66F-ED6A-0DF0-98AE-20D08AB428B5}"/>
              </a:ext>
            </a:extLst>
          </p:cNvPr>
          <p:cNvSpPr txBox="1"/>
          <p:nvPr/>
        </p:nvSpPr>
        <p:spPr>
          <a:xfrm>
            <a:off x="1371598" y="5232634"/>
            <a:ext cx="3662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Repetitive calculations </a:t>
            </a:r>
            <a:endParaRPr lang="en-US" sz="20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2ECC4CE-579F-CEA6-C798-AE385D215FBA}"/>
              </a:ext>
            </a:extLst>
          </p:cNvPr>
          <p:cNvSpPr/>
          <p:nvPr/>
        </p:nvSpPr>
        <p:spPr>
          <a:xfrm>
            <a:off x="7172960" y="877571"/>
            <a:ext cx="4530768" cy="569594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7C7F3E-A4B0-4957-B8CB-05111D956A56}"/>
              </a:ext>
            </a:extLst>
          </p:cNvPr>
          <p:cNvSpPr txBox="1"/>
          <p:nvPr/>
        </p:nvSpPr>
        <p:spPr>
          <a:xfrm>
            <a:off x="1351859" y="2423604"/>
            <a:ext cx="56854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marks, and CGPA tracked on paper or scattered spreadsheets are slow and error-prone.</a:t>
            </a:r>
            <a:endParaRPr lang="en-US" sz="1400" i="1" dirty="0"/>
          </a:p>
          <a:p>
            <a:endParaRPr lang="en-US" sz="14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22C47A-A33D-413D-E152-F92045B3F294}"/>
              </a:ext>
            </a:extLst>
          </p:cNvPr>
          <p:cNvSpPr txBox="1"/>
          <p:nvPr/>
        </p:nvSpPr>
        <p:spPr>
          <a:xfrm>
            <a:off x="1351858" y="4061970"/>
            <a:ext cx="5685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faculty need separate, well-defined ways to reach the data relevant to them.</a:t>
            </a:r>
            <a:endParaRPr lang="en-US" sz="1400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D0328A-32BB-E213-F9C3-F3128B34AAC6}"/>
              </a:ext>
            </a:extLst>
          </p:cNvPr>
          <p:cNvSpPr txBox="1"/>
          <p:nvPr/>
        </p:nvSpPr>
        <p:spPr>
          <a:xfrm>
            <a:off x="1351857" y="5700336"/>
            <a:ext cx="5685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Grades, CGPA, and attendance percentages are hand-calculated every time can be easy to get wrong.</a:t>
            </a:r>
            <a:endParaRPr lang="en-US" sz="1400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A25511-D7D3-36ED-A152-1225AC881B86}"/>
              </a:ext>
            </a:extLst>
          </p:cNvPr>
          <p:cNvSpPr txBox="1"/>
          <p:nvPr/>
        </p:nvSpPr>
        <p:spPr>
          <a:xfrm>
            <a:off x="7607324" y="3092771"/>
            <a:ext cx="3662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role-based C program that gives Faculty and Students their own portal. It is built on structs, file handling, and simple automation.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37F400-016C-6DB5-76DE-0E784BEC1334}"/>
              </a:ext>
            </a:extLst>
          </p:cNvPr>
          <p:cNvSpPr txBox="1"/>
          <p:nvPr/>
        </p:nvSpPr>
        <p:spPr>
          <a:xfrm>
            <a:off x="7829364" y="2008898"/>
            <a:ext cx="32179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10570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CCCD1D-24F7-7818-1BC1-F700A1D07CDD}"/>
              </a:ext>
            </a:extLst>
          </p:cNvPr>
          <p:cNvSpPr txBox="1"/>
          <p:nvPr/>
        </p:nvSpPr>
        <p:spPr>
          <a:xfrm>
            <a:off x="602348" y="952168"/>
            <a:ext cx="10987305" cy="4953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Darker Grotesque" pitchFamily="2" charset="0"/>
              </a:rPr>
              <a:t>System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0" kern="0" dirty="0">
                <a:latin typeface="Darker Grotesque" pitchFamily="2" charset="0"/>
              </a:rPr>
              <a:t>Features</a:t>
            </a:r>
            <a:endParaRPr kumimoji="0" lang="en-US" sz="195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Darker Grotesqu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010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A4489AC0-6D5E-7068-C7ED-AC9C25479774}"/>
              </a:ext>
            </a:extLst>
          </p:cNvPr>
          <p:cNvSpPr/>
          <p:nvPr/>
        </p:nvSpPr>
        <p:spPr>
          <a:xfrm>
            <a:off x="6769695" y="3775496"/>
            <a:ext cx="2278600" cy="1413921"/>
          </a:xfrm>
          <a:prstGeom prst="rect">
            <a:avLst/>
          </a:prstGeom>
          <a:solidFill>
            <a:srgbClr val="EEDF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3803AC-0944-EA18-EC12-157CE4976D26}"/>
              </a:ext>
            </a:extLst>
          </p:cNvPr>
          <p:cNvSpPr txBox="1"/>
          <p:nvPr/>
        </p:nvSpPr>
        <p:spPr>
          <a:xfrm>
            <a:off x="299484" y="407551"/>
            <a:ext cx="1545295" cy="1855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arker Grotesque" pitchFamily="2" charset="0"/>
              </a:rPr>
              <a:t>System Features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76EAB69-774F-288D-3DA4-B9654EAEC473}"/>
              </a:ext>
            </a:extLst>
          </p:cNvPr>
          <p:cNvCxnSpPr/>
          <p:nvPr/>
        </p:nvCxnSpPr>
        <p:spPr>
          <a:xfrm>
            <a:off x="299484" y="623779"/>
            <a:ext cx="11644423" cy="0"/>
          </a:xfrm>
          <a:prstGeom prst="line">
            <a:avLst/>
          </a:prstGeom>
          <a:noFill/>
          <a:ln w="6350" cap="rnd">
            <a:solidFill>
              <a:schemeClr val="bg1">
                <a:alpha val="5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1F4E996-FC63-FEC6-9365-C08C6953C150}"/>
              </a:ext>
            </a:extLst>
          </p:cNvPr>
          <p:cNvGrpSpPr/>
          <p:nvPr/>
        </p:nvGrpSpPr>
        <p:grpSpPr>
          <a:xfrm>
            <a:off x="5842207" y="369986"/>
            <a:ext cx="507586" cy="507586"/>
            <a:chOff x="5867902" y="316578"/>
            <a:chExt cx="507586" cy="507586"/>
          </a:xfrm>
        </p:grpSpPr>
        <p:sp useBgFill="1">
          <p:nvSpPr>
            <p:cNvPr id="73" name="Oval 72">
              <a:extLst>
                <a:ext uri="{FF2B5EF4-FFF2-40B4-BE49-F238E27FC236}">
                  <a16:creationId xmlns:a16="http://schemas.microsoft.com/office/drawing/2014/main" id="{65A24108-9A5C-9392-1351-D85EB9B561C2}"/>
                </a:ext>
              </a:extLst>
            </p:cNvPr>
            <p:cNvSpPr/>
            <p:nvPr/>
          </p:nvSpPr>
          <p:spPr>
            <a:xfrm>
              <a:off x="5867902" y="316578"/>
              <a:ext cx="507586" cy="507586"/>
            </a:xfrm>
            <a:prstGeom prst="ellipse">
              <a:avLst/>
            </a:prstGeom>
            <a:blipFill dpi="0" rotWithShape="0">
              <a:blip r:embed="rId2">
                <a:lum/>
              </a:blip>
              <a:srcRect/>
              <a:stretch>
                <a:fillRect l="-765603" t="-367961" r="-1536354" b="-883140"/>
              </a:stretch>
            </a:blip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74" name="Graphic 73">
              <a:extLst>
                <a:ext uri="{FF2B5EF4-FFF2-40B4-BE49-F238E27FC236}">
                  <a16:creationId xmlns:a16="http://schemas.microsoft.com/office/drawing/2014/main" id="{AB7F7CB2-F832-CA26-1AB2-261BF019E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95695" y="444371"/>
              <a:ext cx="252000" cy="252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AF324F0-C625-3DA7-E42D-BCC119A2EEA1}"/>
              </a:ext>
            </a:extLst>
          </p:cNvPr>
          <p:cNvSpPr/>
          <p:nvPr/>
        </p:nvSpPr>
        <p:spPr>
          <a:xfrm>
            <a:off x="889246" y="1176697"/>
            <a:ext cx="3906175" cy="1939361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Faculty Portal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A9A12-47EB-6A4B-796C-C78C38BB4899}"/>
              </a:ext>
            </a:extLst>
          </p:cNvPr>
          <p:cNvSpPr/>
          <p:nvPr/>
        </p:nvSpPr>
        <p:spPr>
          <a:xfrm>
            <a:off x="7396579" y="1176697"/>
            <a:ext cx="3906175" cy="1939361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0"/>
                  <a:shade val="30000"/>
                  <a:satMod val="11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Student Portal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37E068-29C6-8300-DF29-AAB389BF92C7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0" cy="295233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8562E19-DD5E-0A1A-27DA-1A53159288A5}"/>
              </a:ext>
            </a:extLst>
          </p:cNvPr>
          <p:cNvSpPr/>
          <p:nvPr/>
        </p:nvSpPr>
        <p:spPr>
          <a:xfrm>
            <a:off x="500404" y="3741943"/>
            <a:ext cx="1559314" cy="106373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Add Student</a:t>
            </a:r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7DB5B624-D8BE-5F5F-E159-B7568285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325" y="3741943"/>
            <a:ext cx="347472" cy="347472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FBF3135-6249-95B0-E7E2-68405DB60CE3}"/>
              </a:ext>
            </a:extLst>
          </p:cNvPr>
          <p:cNvSpPr/>
          <p:nvPr/>
        </p:nvSpPr>
        <p:spPr>
          <a:xfrm>
            <a:off x="2258084" y="3741943"/>
            <a:ext cx="1559314" cy="106373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Update/Delete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2C80B4F-D629-CE2D-CFAB-6B2EB8565D2E}"/>
              </a:ext>
            </a:extLst>
          </p:cNvPr>
          <p:cNvSpPr/>
          <p:nvPr/>
        </p:nvSpPr>
        <p:spPr>
          <a:xfrm>
            <a:off x="4015764" y="3741943"/>
            <a:ext cx="1559314" cy="106373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Find and Show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AE92C2-4E64-AA6E-F103-4A5804EF6C10}"/>
              </a:ext>
            </a:extLst>
          </p:cNvPr>
          <p:cNvSpPr/>
          <p:nvPr/>
        </p:nvSpPr>
        <p:spPr>
          <a:xfrm>
            <a:off x="500404" y="5062743"/>
            <a:ext cx="1559314" cy="106373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Attendance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4DA9992-4F6C-78E1-51A6-25440C888463}"/>
              </a:ext>
            </a:extLst>
          </p:cNvPr>
          <p:cNvSpPr/>
          <p:nvPr/>
        </p:nvSpPr>
        <p:spPr>
          <a:xfrm>
            <a:off x="2258084" y="5062743"/>
            <a:ext cx="1559314" cy="106373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Marks Input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4823D64-8871-591E-27DD-E871627446A3}"/>
              </a:ext>
            </a:extLst>
          </p:cNvPr>
          <p:cNvSpPr/>
          <p:nvPr/>
        </p:nvSpPr>
        <p:spPr>
          <a:xfrm>
            <a:off x="4015764" y="5062743"/>
            <a:ext cx="1559314" cy="106373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Add Quiz</a:t>
            </a:r>
          </a:p>
        </p:txBody>
      </p:sp>
      <p:pic>
        <p:nvPicPr>
          <p:cNvPr id="47" name="Image 1" descr="preencoded.png">
            <a:extLst>
              <a:ext uri="{FF2B5EF4-FFF2-40B4-BE49-F238E27FC236}">
                <a16:creationId xmlns:a16="http://schemas.microsoft.com/office/drawing/2014/main" id="{091D839E-B0DA-4E4C-6508-E9A172B0F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4005" y="3775040"/>
            <a:ext cx="347472" cy="347472"/>
          </a:xfrm>
          <a:prstGeom prst="rect">
            <a:avLst/>
          </a:prstGeom>
        </p:spPr>
      </p:pic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2E24CEE9-E44A-4143-F90F-87D7D893DC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1685" y="3775040"/>
            <a:ext cx="347472" cy="347472"/>
          </a:xfrm>
          <a:prstGeom prst="rect">
            <a:avLst/>
          </a:prstGeom>
        </p:spPr>
      </p:pic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60F380DB-D558-DD71-2299-BB72B77AD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226" y="5109522"/>
            <a:ext cx="347472" cy="347472"/>
          </a:xfrm>
          <a:prstGeom prst="rect">
            <a:avLst/>
          </a:prstGeom>
        </p:spPr>
      </p:pic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id="{FE27AB1F-4199-B793-B42F-3CC8A952F5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4005" y="5109522"/>
            <a:ext cx="347472" cy="347472"/>
          </a:xfrm>
          <a:prstGeom prst="rect">
            <a:avLst/>
          </a:prstGeom>
        </p:spPr>
      </p:pic>
      <p:pic>
        <p:nvPicPr>
          <p:cNvPr id="52" name="Image 5" descr="preencoded.png">
            <a:extLst>
              <a:ext uri="{FF2B5EF4-FFF2-40B4-BE49-F238E27FC236}">
                <a16:creationId xmlns:a16="http://schemas.microsoft.com/office/drawing/2014/main" id="{E39252D7-AEDB-7480-7A2E-1F9F703A2B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9227" y="5109522"/>
            <a:ext cx="347472" cy="34747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C8A3D68-2FDB-9E56-E0C6-721F8EAAF411}"/>
              </a:ext>
            </a:extLst>
          </p:cNvPr>
          <p:cNvSpPr txBox="1"/>
          <p:nvPr/>
        </p:nvSpPr>
        <p:spPr>
          <a:xfrm>
            <a:off x="1216980" y="2474042"/>
            <a:ext cx="3250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ID lookup in </a:t>
            </a:r>
            <a:r>
              <a:rPr lang="en-US" sz="16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facultyDB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8E3EA0-CEF7-5F03-A909-CB84F00D3761}"/>
              </a:ext>
            </a:extLst>
          </p:cNvPr>
          <p:cNvSpPr txBox="1"/>
          <p:nvPr/>
        </p:nvSpPr>
        <p:spPr>
          <a:xfrm>
            <a:off x="7877082" y="2443264"/>
            <a:ext cx="2945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ID lookup in </a:t>
            </a:r>
            <a:r>
              <a:rPr lang="en-US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800" dirty="0"/>
          </a:p>
        </p:txBody>
      </p:sp>
      <p:pic>
        <p:nvPicPr>
          <p:cNvPr id="76" name="Image 0" descr="preencoded.png">
            <a:extLst>
              <a:ext uri="{FF2B5EF4-FFF2-40B4-BE49-F238E27FC236}">
                <a16:creationId xmlns:a16="http://schemas.microsoft.com/office/drawing/2014/main" id="{72758D12-C605-DA17-379C-A196DEA399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2473" y="3862550"/>
            <a:ext cx="361869" cy="361869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0AB99F0F-2DD5-08D9-7377-71570543459B}"/>
              </a:ext>
            </a:extLst>
          </p:cNvPr>
          <p:cNvSpPr txBox="1"/>
          <p:nvPr/>
        </p:nvSpPr>
        <p:spPr>
          <a:xfrm>
            <a:off x="7247530" y="3858818"/>
            <a:ext cx="165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6263D"/>
                </a:solidFill>
                <a:latin typeface="Century" panose="02040604050505020304" pitchFamily="18" charset="0"/>
                <a:ea typeface="Calibri" pitchFamily="34" charset="-122"/>
                <a:cs typeface="Calibri" pitchFamily="34" charset="-120"/>
              </a:rPr>
              <a:t>Your Records</a:t>
            </a:r>
            <a:endParaRPr lang="en-US" b="1" dirty="0">
              <a:latin typeface="Century" panose="020406040505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80DBCA-B00D-84ED-854B-4D37C3605D9F}"/>
              </a:ext>
            </a:extLst>
          </p:cNvPr>
          <p:cNvSpPr txBox="1"/>
          <p:nvPr/>
        </p:nvSpPr>
        <p:spPr>
          <a:xfrm>
            <a:off x="6828473" y="4328856"/>
            <a:ext cx="215083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logging in with Student ID, the system displays student’s records.</a:t>
            </a:r>
            <a:endParaRPr lang="en-US" sz="1300" i="1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E04833D-5ED7-69AD-965D-8553FA57DED4}"/>
              </a:ext>
            </a:extLst>
          </p:cNvPr>
          <p:cNvSpPr/>
          <p:nvPr/>
        </p:nvSpPr>
        <p:spPr>
          <a:xfrm>
            <a:off x="6769695" y="5284464"/>
            <a:ext cx="2278600" cy="840305"/>
          </a:xfrm>
          <a:prstGeom prst="roundRect">
            <a:avLst/>
          </a:prstGeom>
          <a:solidFill>
            <a:srgbClr val="EEDF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1" name="Graphic 80" descr="Bullseye">
            <a:extLst>
              <a:ext uri="{FF2B5EF4-FFF2-40B4-BE49-F238E27FC236}">
                <a16:creationId xmlns:a16="http://schemas.microsoft.com/office/drawing/2014/main" id="{6854ABA7-23DC-1787-8A77-51C6D88881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99735" y="5321324"/>
            <a:ext cx="464376" cy="464376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89DA984-9E80-F1A9-D752-C95D58884294}"/>
              </a:ext>
            </a:extLst>
          </p:cNvPr>
          <p:cNvSpPr txBox="1"/>
          <p:nvPr/>
        </p:nvSpPr>
        <p:spPr>
          <a:xfrm>
            <a:off x="7251366" y="5321324"/>
            <a:ext cx="723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  <a:cs typeface="Calibri" panose="020F0502020204030204" pitchFamily="34" charset="0"/>
              </a:rPr>
              <a:t>Quiz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D2DB0A-668A-55ED-BCBB-66159D5EBFEB}"/>
              </a:ext>
            </a:extLst>
          </p:cNvPr>
          <p:cNvSpPr txBox="1"/>
          <p:nvPr/>
        </p:nvSpPr>
        <p:spPr>
          <a:xfrm>
            <a:off x="7180290" y="5640103"/>
            <a:ext cx="1922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" panose="02040604050505020304" pitchFamily="18" charset="0"/>
              </a:rPr>
              <a:t>Attend teacher assigned quizzes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3692BFA7-2DFA-C57A-22FA-30104708DA0E}"/>
              </a:ext>
            </a:extLst>
          </p:cNvPr>
          <p:cNvSpPr/>
          <p:nvPr/>
        </p:nvSpPr>
        <p:spPr>
          <a:xfrm>
            <a:off x="9281071" y="3732231"/>
            <a:ext cx="2278600" cy="773300"/>
          </a:xfrm>
          <a:prstGeom prst="roundRect">
            <a:avLst/>
          </a:prstGeom>
          <a:solidFill>
            <a:srgbClr val="EEDF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7FC431-3BEE-185A-5751-065B8C8E7304}"/>
              </a:ext>
            </a:extLst>
          </p:cNvPr>
          <p:cNvSpPr txBox="1"/>
          <p:nvPr/>
        </p:nvSpPr>
        <p:spPr>
          <a:xfrm>
            <a:off x="9674506" y="3804976"/>
            <a:ext cx="1781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entury" panose="02040604050505020304" pitchFamily="18" charset="0"/>
                <a:cs typeface="Calibri" panose="020F0502020204030204" pitchFamily="34" charset="0"/>
              </a:rPr>
              <a:t>Study Timer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0E3613-DBCD-3776-EAAC-4F0686B02536}"/>
              </a:ext>
            </a:extLst>
          </p:cNvPr>
          <p:cNvSpPr txBox="1"/>
          <p:nvPr/>
        </p:nvSpPr>
        <p:spPr>
          <a:xfrm>
            <a:off x="9691666" y="4087869"/>
            <a:ext cx="1922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timer that alerts when time is up</a:t>
            </a:r>
            <a:endParaRPr lang="en-US" sz="1200" i="1" dirty="0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FECCD7A0-3372-FB60-8AFF-34417E87E591}"/>
              </a:ext>
            </a:extLst>
          </p:cNvPr>
          <p:cNvSpPr/>
          <p:nvPr/>
        </p:nvSpPr>
        <p:spPr>
          <a:xfrm>
            <a:off x="9308745" y="4555241"/>
            <a:ext cx="2236527" cy="784105"/>
          </a:xfrm>
          <a:prstGeom prst="roundRect">
            <a:avLst/>
          </a:prstGeom>
          <a:solidFill>
            <a:srgbClr val="EEDF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02B60FB-4441-7C50-C993-7CE1F7E7D8E3}"/>
              </a:ext>
            </a:extLst>
          </p:cNvPr>
          <p:cNvSpPr txBox="1"/>
          <p:nvPr/>
        </p:nvSpPr>
        <p:spPr>
          <a:xfrm>
            <a:off x="9676253" y="4586229"/>
            <a:ext cx="1961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6263D"/>
                </a:solidFill>
                <a:latin typeface="Century" panose="02040604050505020304" pitchFamily="18" charset="0"/>
                <a:ea typeface="Calibri" pitchFamily="34" charset="-122"/>
                <a:cs typeface="Calibri" pitchFamily="34" charset="-120"/>
              </a:rPr>
              <a:t>SGPA Calculator</a:t>
            </a:r>
            <a:endParaRPr lang="en-US" sz="1600" b="1" dirty="0">
              <a:latin typeface="Century" panose="020406040505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4A7EAD6-4F65-318F-F60D-B9698F181DFC}"/>
              </a:ext>
            </a:extLst>
          </p:cNvPr>
          <p:cNvSpPr txBox="1"/>
          <p:nvPr/>
        </p:nvSpPr>
        <p:spPr>
          <a:xfrm>
            <a:off x="9655615" y="4862613"/>
            <a:ext cx="1982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SGPA &amp; automatically updates CGPA</a:t>
            </a:r>
            <a:endParaRPr lang="en-US" sz="1200" i="1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0053F15F-5FDE-604D-2832-BF7A27675E3E}"/>
              </a:ext>
            </a:extLst>
          </p:cNvPr>
          <p:cNvSpPr/>
          <p:nvPr/>
        </p:nvSpPr>
        <p:spPr>
          <a:xfrm>
            <a:off x="9313182" y="5389056"/>
            <a:ext cx="2240540" cy="775997"/>
          </a:xfrm>
          <a:prstGeom prst="roundRect">
            <a:avLst/>
          </a:prstGeom>
          <a:solidFill>
            <a:srgbClr val="EEDF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3B73938-9E82-8D7D-139B-A7C7D2936227}"/>
              </a:ext>
            </a:extLst>
          </p:cNvPr>
          <p:cNvSpPr txBox="1"/>
          <p:nvPr/>
        </p:nvSpPr>
        <p:spPr>
          <a:xfrm>
            <a:off x="9721015" y="5432691"/>
            <a:ext cx="1626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6263D"/>
                </a:solidFill>
                <a:latin typeface="Century" panose="02040604050505020304" pitchFamily="18" charset="0"/>
                <a:ea typeface="Calibri" pitchFamily="34" charset="-122"/>
                <a:cs typeface="Calibri" pitchFamily="34" charset="-120"/>
              </a:rPr>
              <a:t>Goal Tracker</a:t>
            </a:r>
            <a:endParaRPr lang="en-US" sz="1600" b="1" dirty="0">
              <a:latin typeface="Century" panose="020406040505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EDB6751-91FD-DF0F-062A-7626D9301CE8}"/>
              </a:ext>
            </a:extLst>
          </p:cNvPr>
          <p:cNvSpPr txBox="1"/>
          <p:nvPr/>
        </p:nvSpPr>
        <p:spPr>
          <a:xfrm>
            <a:off x="9711779" y="5698110"/>
            <a:ext cx="1890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CGPA vs target and show the gap</a:t>
            </a:r>
            <a:endParaRPr lang="en-US" sz="1200" i="1" dirty="0"/>
          </a:p>
        </p:txBody>
      </p:sp>
      <p:pic>
        <p:nvPicPr>
          <p:cNvPr id="108" name="Image 1" descr="preencoded.png">
            <a:extLst>
              <a:ext uri="{FF2B5EF4-FFF2-40B4-BE49-F238E27FC236}">
                <a16:creationId xmlns:a16="http://schemas.microsoft.com/office/drawing/2014/main" id="{FD66C8C4-7043-88E1-C0A3-79D60C9AD9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44712" y="3813816"/>
            <a:ext cx="365760" cy="365760"/>
          </a:xfrm>
          <a:prstGeom prst="rect">
            <a:avLst/>
          </a:prstGeom>
        </p:spPr>
      </p:pic>
      <p:pic>
        <p:nvPicPr>
          <p:cNvPr id="109" name="Image 2" descr="Calculator">
            <a:extLst>
              <a:ext uri="{FF2B5EF4-FFF2-40B4-BE49-F238E27FC236}">
                <a16:creationId xmlns:a16="http://schemas.microsoft.com/office/drawing/2014/main" id="{82FAF58D-7EFF-71DD-451D-1969BA3BE0D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9315500" y="4609633"/>
            <a:ext cx="359006" cy="359006"/>
          </a:xfrm>
          <a:prstGeom prst="rect">
            <a:avLst/>
          </a:prstGeom>
          <a:noFill/>
        </p:spPr>
      </p:pic>
      <p:pic>
        <p:nvPicPr>
          <p:cNvPr id="110" name="Image 3" descr="preencoded.png">
            <a:extLst>
              <a:ext uri="{FF2B5EF4-FFF2-40B4-BE49-F238E27FC236}">
                <a16:creationId xmlns:a16="http://schemas.microsoft.com/office/drawing/2014/main" id="{3148B10E-F52B-0283-669B-9AE678B0781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55255" y="5425916"/>
            <a:ext cx="359650" cy="35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04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CCCD1D-24F7-7818-1BC1-F700A1D07CDD}"/>
              </a:ext>
            </a:extLst>
          </p:cNvPr>
          <p:cNvSpPr txBox="1"/>
          <p:nvPr/>
        </p:nvSpPr>
        <p:spPr>
          <a:xfrm>
            <a:off x="953780" y="952168"/>
            <a:ext cx="10284440" cy="4953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Darker Grotesque" pitchFamily="2" charset="0"/>
              </a:rPr>
              <a:t>Technical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0" kern="0" dirty="0">
                <a:latin typeface="Darker Grotesque" pitchFamily="2" charset="0"/>
              </a:rPr>
              <a:t>Design</a:t>
            </a:r>
            <a:endParaRPr kumimoji="0" lang="en-US" sz="195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Darker Grotesqu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60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3E04DF-AB99-4673-B660-11736184BE61}"/>
              </a:ext>
            </a:extLst>
          </p:cNvPr>
          <p:cNvSpPr txBox="1"/>
          <p:nvPr/>
        </p:nvSpPr>
        <p:spPr>
          <a:xfrm>
            <a:off x="299484" y="407551"/>
            <a:ext cx="1567737" cy="1855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arker Grotesque" pitchFamily="2" charset="0"/>
              </a:rPr>
              <a:t>Technical Design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34559A-1E5B-321C-CC10-EDD304FCD722}"/>
              </a:ext>
            </a:extLst>
          </p:cNvPr>
          <p:cNvGrpSpPr/>
          <p:nvPr/>
        </p:nvGrpSpPr>
        <p:grpSpPr>
          <a:xfrm>
            <a:off x="299484" y="369986"/>
            <a:ext cx="11644423" cy="507586"/>
            <a:chOff x="299484" y="369986"/>
            <a:chExt cx="11644423" cy="5075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3237BC-BEFD-32BD-F27B-ABFA0C63003E}"/>
                </a:ext>
              </a:extLst>
            </p:cNvPr>
            <p:cNvCxnSpPr/>
            <p:nvPr/>
          </p:nvCxnSpPr>
          <p:spPr>
            <a:xfrm>
              <a:off x="299484" y="623779"/>
              <a:ext cx="11644423" cy="0"/>
            </a:xfrm>
            <a:prstGeom prst="line">
              <a:avLst/>
            </a:prstGeom>
            <a:noFill/>
            <a:ln w="6350" cap="rnd">
              <a:solidFill>
                <a:schemeClr val="bg1">
                  <a:alpha val="5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2" name="!!potential">
              <a:extLst>
                <a:ext uri="{FF2B5EF4-FFF2-40B4-BE49-F238E27FC236}">
                  <a16:creationId xmlns:a16="http://schemas.microsoft.com/office/drawing/2014/main" id="{694D1488-DFF1-676F-66D3-FFC325542115}"/>
                </a:ext>
              </a:extLst>
            </p:cNvPr>
            <p:cNvGrpSpPr/>
            <p:nvPr/>
          </p:nvGrpSpPr>
          <p:grpSpPr>
            <a:xfrm>
              <a:off x="5842207" y="369986"/>
              <a:ext cx="507586" cy="507586"/>
              <a:chOff x="4797684" y="4481585"/>
              <a:chExt cx="507586" cy="507586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7F15562-73D6-A77C-2494-60C05D751A4B}"/>
                  </a:ext>
                </a:extLst>
              </p:cNvPr>
              <p:cNvSpPr/>
              <p:nvPr/>
            </p:nvSpPr>
            <p:spPr>
              <a:xfrm>
                <a:off x="4797684" y="4481585"/>
                <a:ext cx="507586" cy="507586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bg1"/>
                </a:solidFill>
              </a:ln>
              <a:effectLst>
                <a:innerShdw blurRad="279400">
                  <a:schemeClr val="bg1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GB" dirty="0">
                  <a:latin typeface="Darker Grotesque" pitchFamily="2" charset="0"/>
                </a:endParaRPr>
              </a:p>
            </p:txBody>
          </p:sp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7E26FE28-9C5B-0BD9-94DA-B3B73633E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925477" y="4609378"/>
                <a:ext cx="252000" cy="252000"/>
              </a:xfrm>
              <a:prstGeom prst="rect">
                <a:avLst/>
              </a:prstGeom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8E57855-8241-8B0D-B7C6-E1D58AE3C1C8}"/>
              </a:ext>
            </a:extLst>
          </p:cNvPr>
          <p:cNvSpPr txBox="1"/>
          <p:nvPr/>
        </p:nvSpPr>
        <p:spPr>
          <a:xfrm>
            <a:off x="299484" y="814367"/>
            <a:ext cx="4607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Files</a:t>
            </a:r>
            <a:endParaRPr lang="en-US" sz="3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936367-1568-9EF6-FA7C-867C8B051891}"/>
              </a:ext>
            </a:extLst>
          </p:cNvPr>
          <p:cNvSpPr/>
          <p:nvPr/>
        </p:nvSpPr>
        <p:spPr>
          <a:xfrm>
            <a:off x="502140" y="1743589"/>
            <a:ext cx="3891629" cy="1538034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4E0861-A74B-4511-FC27-A0BB3C049D2E}"/>
              </a:ext>
            </a:extLst>
          </p:cNvPr>
          <p:cNvSpPr txBox="1"/>
          <p:nvPr/>
        </p:nvSpPr>
        <p:spPr>
          <a:xfrm>
            <a:off x="497060" y="1851201"/>
            <a:ext cx="2152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4AB0BDC4-4F07-F458-C9B9-65132CA49EE9}"/>
              </a:ext>
            </a:extLst>
          </p:cNvPr>
          <p:cNvSpPr/>
          <p:nvPr/>
        </p:nvSpPr>
        <p:spPr>
          <a:xfrm>
            <a:off x="603740" y="2087819"/>
            <a:ext cx="3080425" cy="125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id, semester, attendance;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marks, cgpa;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name[50], dept[20], grade[3];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D6CE3C-9088-5BAB-4FA4-2778979C7ED2}"/>
              </a:ext>
            </a:extLst>
          </p:cNvPr>
          <p:cNvSpPr/>
          <p:nvPr/>
        </p:nvSpPr>
        <p:spPr>
          <a:xfrm>
            <a:off x="502139" y="3403265"/>
            <a:ext cx="3891629" cy="1538034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E5CD98-8391-D1B6-7B4A-82C5F68B44AB}"/>
              </a:ext>
            </a:extLst>
          </p:cNvPr>
          <p:cNvSpPr txBox="1"/>
          <p:nvPr/>
        </p:nvSpPr>
        <p:spPr>
          <a:xfrm>
            <a:off x="497059" y="3510877"/>
            <a:ext cx="2152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Quiz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4FD53949-6531-8A32-8206-609C28C24703}"/>
              </a:ext>
            </a:extLst>
          </p:cNvPr>
          <p:cNvSpPr/>
          <p:nvPr/>
        </p:nvSpPr>
        <p:spPr>
          <a:xfrm>
            <a:off x="603739" y="3747495"/>
            <a:ext cx="3080425" cy="125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question[200];</a:t>
            </a:r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</a:t>
            </a:r>
            <a:r>
              <a:rPr lang="en-US" sz="15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optA</a:t>
            </a: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[100], </a:t>
            </a:r>
            <a:r>
              <a:rPr lang="en-US" sz="15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optB</a:t>
            </a: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[100];</a:t>
            </a:r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</a:t>
            </a:r>
            <a:r>
              <a:rPr lang="en-US" sz="15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optC</a:t>
            </a: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[100], </a:t>
            </a:r>
            <a:r>
              <a:rPr lang="en-US" sz="15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optD</a:t>
            </a: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[100];</a:t>
            </a:r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correct;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063A29-ED85-EF59-9E10-0005FFA694C6}"/>
              </a:ext>
            </a:extLst>
          </p:cNvPr>
          <p:cNvSpPr txBox="1"/>
          <p:nvPr/>
        </p:nvSpPr>
        <p:spPr>
          <a:xfrm>
            <a:off x="497060" y="1360227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9BBFCB-0521-CCD3-4A1F-B92BCACB3866}"/>
              </a:ext>
            </a:extLst>
          </p:cNvPr>
          <p:cNvSpPr txBox="1"/>
          <p:nvPr/>
        </p:nvSpPr>
        <p:spPr>
          <a:xfrm>
            <a:off x="683038" y="5125223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6394A3CA-17CF-D53C-36B0-C6DEDC680BE5}"/>
              </a:ext>
            </a:extLst>
          </p:cNvPr>
          <p:cNvSpPr/>
          <p:nvPr/>
        </p:nvSpPr>
        <p:spPr>
          <a:xfrm>
            <a:off x="779399" y="5608295"/>
            <a:ext cx="4701119" cy="5539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9DEBDEF1-4599-C3ED-3FDA-D2DFE251F404}"/>
              </a:ext>
            </a:extLst>
          </p:cNvPr>
          <p:cNvSpPr/>
          <p:nvPr/>
        </p:nvSpPr>
        <p:spPr>
          <a:xfrm>
            <a:off x="812194" y="5581355"/>
            <a:ext cx="2057696" cy="5381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stdDB.txt</a:t>
            </a:r>
            <a:endParaRPr lang="en-US" sz="1350" dirty="0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C2DC3375-50DF-34CF-3878-7419F682B4A3}"/>
              </a:ext>
            </a:extLst>
          </p:cNvPr>
          <p:cNvSpPr/>
          <p:nvPr/>
        </p:nvSpPr>
        <p:spPr>
          <a:xfrm>
            <a:off x="2993358" y="5614776"/>
            <a:ext cx="2587178" cy="53816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 records such as id, name, dept, marks, grade, CGPA</a:t>
            </a:r>
            <a:endParaRPr lang="en-US" sz="1200" dirty="0"/>
          </a:p>
        </p:txBody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9B1D133E-6C60-C9D0-8ECC-A82ED1266F7C}"/>
              </a:ext>
            </a:extLst>
          </p:cNvPr>
          <p:cNvSpPr/>
          <p:nvPr/>
        </p:nvSpPr>
        <p:spPr>
          <a:xfrm>
            <a:off x="779398" y="6188491"/>
            <a:ext cx="4701119" cy="5539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3BD50F21-0058-5E55-6867-96024EC34F4F}"/>
              </a:ext>
            </a:extLst>
          </p:cNvPr>
          <p:cNvSpPr/>
          <p:nvPr/>
        </p:nvSpPr>
        <p:spPr>
          <a:xfrm>
            <a:off x="812193" y="6161551"/>
            <a:ext cx="1538486" cy="5707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facultyDB.txt</a:t>
            </a:r>
            <a:endParaRPr lang="en-US" sz="1350" dirty="0"/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2412862A-4A21-EF1A-6409-16149ED058B8}"/>
              </a:ext>
            </a:extLst>
          </p:cNvPr>
          <p:cNvSpPr/>
          <p:nvPr/>
        </p:nvSpPr>
        <p:spPr>
          <a:xfrm>
            <a:off x="2979905" y="6233385"/>
            <a:ext cx="2500613" cy="5381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IDs, names, and departments used to verify login</a:t>
            </a:r>
            <a:endParaRPr lang="en-US" sz="1200" dirty="0"/>
          </a:p>
        </p:txBody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6C96E0C8-A1C3-C93D-E1C3-3E5DDE245F66}"/>
              </a:ext>
            </a:extLst>
          </p:cNvPr>
          <p:cNvSpPr/>
          <p:nvPr/>
        </p:nvSpPr>
        <p:spPr>
          <a:xfrm>
            <a:off x="6222000" y="5611187"/>
            <a:ext cx="4701119" cy="5539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5" name="Text 3">
            <a:extLst>
              <a:ext uri="{FF2B5EF4-FFF2-40B4-BE49-F238E27FC236}">
                <a16:creationId xmlns:a16="http://schemas.microsoft.com/office/drawing/2014/main" id="{EF29A86F-5A80-8996-CC68-9185C29B59D2}"/>
              </a:ext>
            </a:extLst>
          </p:cNvPr>
          <p:cNvSpPr/>
          <p:nvPr/>
        </p:nvSpPr>
        <p:spPr>
          <a:xfrm>
            <a:off x="6254795" y="5584247"/>
            <a:ext cx="2057696" cy="5381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classCount.txt</a:t>
            </a:r>
            <a:endParaRPr lang="en-US" sz="1350" dirty="0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84613943-5390-7AEF-76A7-BE102BDCD6AE}"/>
              </a:ext>
            </a:extLst>
          </p:cNvPr>
          <p:cNvSpPr/>
          <p:nvPr/>
        </p:nvSpPr>
        <p:spPr>
          <a:xfrm>
            <a:off x="8435959" y="5609560"/>
            <a:ext cx="2587178" cy="53816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 of classes held, used for attendance %</a:t>
            </a:r>
            <a:endParaRPr lang="en-US" sz="1200" dirty="0"/>
          </a:p>
        </p:txBody>
      </p:sp>
      <p:sp>
        <p:nvSpPr>
          <p:cNvPr id="67" name="Shape 2">
            <a:extLst>
              <a:ext uri="{FF2B5EF4-FFF2-40B4-BE49-F238E27FC236}">
                <a16:creationId xmlns:a16="http://schemas.microsoft.com/office/drawing/2014/main" id="{6C4E95CF-DA73-D64D-D190-12113F385100}"/>
              </a:ext>
            </a:extLst>
          </p:cNvPr>
          <p:cNvSpPr/>
          <p:nvPr/>
        </p:nvSpPr>
        <p:spPr>
          <a:xfrm>
            <a:off x="6222000" y="6176294"/>
            <a:ext cx="4701119" cy="5539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D4699EB3-D163-6511-4165-F3A3B817207B}"/>
              </a:ext>
            </a:extLst>
          </p:cNvPr>
          <p:cNvSpPr/>
          <p:nvPr/>
        </p:nvSpPr>
        <p:spPr>
          <a:xfrm>
            <a:off x="6254795" y="6149354"/>
            <a:ext cx="1271456" cy="5381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quiz.txt</a:t>
            </a:r>
            <a:endParaRPr lang="en-US" sz="135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5F73ABF9-2C20-5A02-FB86-F54600AFD83B}"/>
              </a:ext>
            </a:extLst>
          </p:cNvPr>
          <p:cNvSpPr/>
          <p:nvPr/>
        </p:nvSpPr>
        <p:spPr>
          <a:xfrm>
            <a:off x="8435959" y="6190606"/>
            <a:ext cx="2587178" cy="53816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questions, four options, and the correct answer</a:t>
            </a:r>
            <a:endParaRPr lang="en-US" sz="1200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2E6259E-8453-5C15-A1BF-D729C5A522A3}"/>
              </a:ext>
            </a:extLst>
          </p:cNvPr>
          <p:cNvCxnSpPr>
            <a:cxnSpLocks/>
          </p:cNvCxnSpPr>
          <p:nvPr/>
        </p:nvCxnSpPr>
        <p:spPr>
          <a:xfrm>
            <a:off x="5837827" y="1743589"/>
            <a:ext cx="0" cy="361454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hape 10">
            <a:extLst>
              <a:ext uri="{FF2B5EF4-FFF2-40B4-BE49-F238E27FC236}">
                <a16:creationId xmlns:a16="http://schemas.microsoft.com/office/drawing/2014/main" id="{DC1BCBEF-E93A-6282-9BD8-E1CDAB0E64E3}"/>
              </a:ext>
            </a:extLst>
          </p:cNvPr>
          <p:cNvSpPr/>
          <p:nvPr/>
        </p:nvSpPr>
        <p:spPr>
          <a:xfrm>
            <a:off x="6349794" y="2788189"/>
            <a:ext cx="4951482" cy="1294374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E3B00407-DF5D-5BFA-CEB6-97F71C13FF55}"/>
              </a:ext>
            </a:extLst>
          </p:cNvPr>
          <p:cNvSpPr/>
          <p:nvPr/>
        </p:nvSpPr>
        <p:spPr>
          <a:xfrm>
            <a:off x="6349793" y="2788189"/>
            <a:ext cx="82525" cy="129437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3FF809E0-F0ED-9C72-51ED-F5FD0F15F26C}"/>
              </a:ext>
            </a:extLst>
          </p:cNvPr>
          <p:cNvSpPr/>
          <p:nvPr/>
        </p:nvSpPr>
        <p:spPr>
          <a:xfrm>
            <a:off x="6669835" y="2996582"/>
            <a:ext cx="4456334" cy="240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(%)</a:t>
            </a:r>
            <a:endParaRPr lang="en-US" sz="1800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4C37A18E-309F-7849-127F-E9FE99D919B6}"/>
              </a:ext>
            </a:extLst>
          </p:cNvPr>
          <p:cNvSpPr/>
          <p:nvPr/>
        </p:nvSpPr>
        <p:spPr>
          <a:xfrm>
            <a:off x="6669835" y="3431499"/>
            <a:ext cx="4456334" cy="69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present_days × 100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total_classes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 Class stored in classCount.txt)</a:t>
            </a:r>
            <a:endParaRPr lang="en-US" sz="1400" dirty="0"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E3AA2923-4E70-939F-E324-246321881EBA}"/>
              </a:ext>
            </a:extLst>
          </p:cNvPr>
          <p:cNvSpPr/>
          <p:nvPr/>
        </p:nvSpPr>
        <p:spPr>
          <a:xfrm>
            <a:off x="6349795" y="4156975"/>
            <a:ext cx="4951482" cy="129437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7ACFF944-ED71-92C5-B474-ACBB2C490DF1}"/>
              </a:ext>
            </a:extLst>
          </p:cNvPr>
          <p:cNvSpPr/>
          <p:nvPr/>
        </p:nvSpPr>
        <p:spPr>
          <a:xfrm>
            <a:off x="6349794" y="4156975"/>
            <a:ext cx="82525" cy="129437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DEE37CE4-450D-63B3-A123-0CFB3672473C}"/>
              </a:ext>
            </a:extLst>
          </p:cNvPr>
          <p:cNvSpPr/>
          <p:nvPr/>
        </p:nvSpPr>
        <p:spPr>
          <a:xfrm>
            <a:off x="6669836" y="4347727"/>
            <a:ext cx="4456334" cy="240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Update</a:t>
            </a:r>
            <a:endParaRPr lang="en-US" sz="1800" dirty="0"/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53FABC85-499C-2B51-A6AC-4FCB40E47893}"/>
              </a:ext>
            </a:extLst>
          </p:cNvPr>
          <p:cNvSpPr/>
          <p:nvPr/>
        </p:nvSpPr>
        <p:spPr>
          <a:xfrm>
            <a:off x="6669836" y="4868955"/>
            <a:ext cx="4456334" cy="692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newCGPA = (oldCGPA × (sem−1)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newSGPA) / sem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semester++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8043F7-4F94-2876-24D0-C6C25FA49406}"/>
              </a:ext>
            </a:extLst>
          </p:cNvPr>
          <p:cNvSpPr txBox="1"/>
          <p:nvPr/>
        </p:nvSpPr>
        <p:spPr>
          <a:xfrm>
            <a:off x="6604474" y="4613366"/>
            <a:ext cx="1164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cgpa</a:t>
            </a:r>
            <a:r>
              <a:rPr lang="en-US" sz="1600" dirty="0"/>
              <a:t>()</a:t>
            </a: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24CCBE8-7342-A783-E583-1DA04482B960}"/>
              </a:ext>
            </a:extLst>
          </p:cNvPr>
          <p:cNvSpPr/>
          <p:nvPr/>
        </p:nvSpPr>
        <p:spPr>
          <a:xfrm>
            <a:off x="6349794" y="1450936"/>
            <a:ext cx="4951482" cy="129437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F6542527-B5C1-B367-FDFD-68603435C83B}"/>
              </a:ext>
            </a:extLst>
          </p:cNvPr>
          <p:cNvSpPr/>
          <p:nvPr/>
        </p:nvSpPr>
        <p:spPr>
          <a:xfrm>
            <a:off x="6349793" y="1450936"/>
            <a:ext cx="82525" cy="12943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5A770F6F-62B8-69B0-6849-3237A60D9824}"/>
              </a:ext>
            </a:extLst>
          </p:cNvPr>
          <p:cNvSpPr/>
          <p:nvPr/>
        </p:nvSpPr>
        <p:spPr>
          <a:xfrm>
            <a:off x="6669835" y="1641688"/>
            <a:ext cx="4456334" cy="240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Update</a:t>
            </a:r>
            <a:endParaRPr lang="en-US" sz="18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F10216B2-F4F1-832E-8247-23C6937E1E2D}"/>
              </a:ext>
            </a:extLst>
          </p:cNvPr>
          <p:cNvSpPr/>
          <p:nvPr/>
        </p:nvSpPr>
        <p:spPr>
          <a:xfrm>
            <a:off x="6669835" y="2162916"/>
            <a:ext cx="4456334" cy="692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 a pointer and switch to check and update the letter grade of every student.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1CF3C4-7242-F081-C45E-87FCE0E697B5}"/>
              </a:ext>
            </a:extLst>
          </p:cNvPr>
          <p:cNvSpPr txBox="1"/>
          <p:nvPr/>
        </p:nvSpPr>
        <p:spPr>
          <a:xfrm>
            <a:off x="6604472" y="1907327"/>
            <a:ext cx="1880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assignGrade()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0633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348A4-0996-F30E-B712-42D5397924F2}"/>
              </a:ext>
            </a:extLst>
          </p:cNvPr>
          <p:cNvSpPr txBox="1"/>
          <p:nvPr/>
        </p:nvSpPr>
        <p:spPr>
          <a:xfrm>
            <a:off x="-965472" y="2436421"/>
            <a:ext cx="14122944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Darker Grotesque" pitchFamily="2" charset="0"/>
              </a:rPr>
              <a:t>Implementing</a:t>
            </a:r>
          </a:p>
        </p:txBody>
      </p:sp>
    </p:spTree>
    <p:extLst>
      <p:ext uri="{BB962C8B-B14F-4D97-AF65-F5344CB8AC3E}">
        <p14:creationId xmlns:p14="http://schemas.microsoft.com/office/powerpoint/2010/main" val="2711027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6DE8E1-B3CB-CC66-47E2-30B5FE1E7D7E}"/>
              </a:ext>
            </a:extLst>
          </p:cNvPr>
          <p:cNvSpPr txBox="1"/>
          <p:nvPr/>
        </p:nvSpPr>
        <p:spPr>
          <a:xfrm>
            <a:off x="299484" y="407551"/>
            <a:ext cx="1314462" cy="1855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arker Grotesque" pitchFamily="2" charset="0"/>
              </a:rPr>
              <a:t>Implementing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EA1F448-7B06-8D2C-17AB-F795C4128F39}"/>
              </a:ext>
            </a:extLst>
          </p:cNvPr>
          <p:cNvGrpSpPr/>
          <p:nvPr/>
        </p:nvGrpSpPr>
        <p:grpSpPr>
          <a:xfrm>
            <a:off x="299484" y="369986"/>
            <a:ext cx="11644423" cy="507586"/>
            <a:chOff x="299484" y="369986"/>
            <a:chExt cx="11644423" cy="50758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6F4AC99-EA79-392B-78ED-51684A8B3E48}"/>
                </a:ext>
              </a:extLst>
            </p:cNvPr>
            <p:cNvCxnSpPr/>
            <p:nvPr/>
          </p:nvCxnSpPr>
          <p:spPr>
            <a:xfrm>
              <a:off x="299484" y="623779"/>
              <a:ext cx="11644423" cy="0"/>
            </a:xfrm>
            <a:prstGeom prst="line">
              <a:avLst/>
            </a:prstGeom>
            <a:noFill/>
            <a:ln w="6350" cap="rnd">
              <a:solidFill>
                <a:schemeClr val="bg1">
                  <a:alpha val="5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3" name="!!growth">
              <a:extLst>
                <a:ext uri="{FF2B5EF4-FFF2-40B4-BE49-F238E27FC236}">
                  <a16:creationId xmlns:a16="http://schemas.microsoft.com/office/drawing/2014/main" id="{F2BB4602-C683-DDB9-D183-8DE95CB93093}"/>
                </a:ext>
              </a:extLst>
            </p:cNvPr>
            <p:cNvGrpSpPr/>
            <p:nvPr/>
          </p:nvGrpSpPr>
          <p:grpSpPr>
            <a:xfrm rot="21540000">
              <a:off x="5842207" y="369986"/>
              <a:ext cx="507586" cy="507586"/>
              <a:chOff x="6811776" y="4481585"/>
              <a:chExt cx="507586" cy="507586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A6715EB-BA87-F0D5-86F7-A8CDDC5C04F9}"/>
                  </a:ext>
                </a:extLst>
              </p:cNvPr>
              <p:cNvSpPr/>
              <p:nvPr/>
            </p:nvSpPr>
            <p:spPr>
              <a:xfrm>
                <a:off x="6811776" y="4481585"/>
                <a:ext cx="507586" cy="507586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bg1"/>
                </a:solidFill>
              </a:ln>
              <a:effectLst>
                <a:innerShdw blurRad="279400">
                  <a:schemeClr val="bg1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GB" dirty="0">
                  <a:latin typeface="Darker Grotesque" pitchFamily="2" charset="0"/>
                </a:endParaRPr>
              </a:p>
            </p:txBody>
          </p:sp>
          <p:pic>
            <p:nvPicPr>
              <p:cNvPr id="75" name="Graphic 74">
                <a:extLst>
                  <a:ext uri="{FF2B5EF4-FFF2-40B4-BE49-F238E27FC236}">
                    <a16:creationId xmlns:a16="http://schemas.microsoft.com/office/drawing/2014/main" id="{171ED3B0-4D8A-308C-6BD9-502D305EC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39569" y="4609378"/>
                <a:ext cx="252000" cy="252000"/>
              </a:xfrm>
              <a:prstGeom prst="rect">
                <a:avLst/>
              </a:prstGeom>
            </p:spPr>
          </p:pic>
        </p:grpSp>
      </p:grpSp>
      <p:sp>
        <p:nvSpPr>
          <p:cNvPr id="5" name="Text 25">
            <a:extLst>
              <a:ext uri="{FF2B5EF4-FFF2-40B4-BE49-F238E27FC236}">
                <a16:creationId xmlns:a16="http://schemas.microsoft.com/office/drawing/2014/main" id="{C520D5E6-C7DE-9557-75C4-97D9A8AB0A60}"/>
              </a:ext>
            </a:extLst>
          </p:cNvPr>
          <p:cNvSpPr/>
          <p:nvPr/>
        </p:nvSpPr>
        <p:spPr>
          <a:xfrm>
            <a:off x="481420" y="4160685"/>
            <a:ext cx="6986180" cy="36576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Implementation Notes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2D99F171-A4BE-7B04-456F-6376A49893C3}"/>
              </a:ext>
            </a:extLst>
          </p:cNvPr>
          <p:cNvSpPr/>
          <p:nvPr/>
        </p:nvSpPr>
        <p:spPr>
          <a:xfrm>
            <a:off x="481420" y="4663605"/>
            <a:ext cx="6986180" cy="32004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Windows-specific: uses &lt;windows.h&gt; for Sleep() and system("cls")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Text 27">
            <a:extLst>
              <a:ext uri="{FF2B5EF4-FFF2-40B4-BE49-F238E27FC236}">
                <a16:creationId xmlns:a16="http://schemas.microsoft.com/office/drawing/2014/main" id="{DD60A5A1-80BA-3B4F-3B51-E32E5286FD9F}"/>
              </a:ext>
            </a:extLst>
          </p:cNvPr>
          <p:cNvSpPr/>
          <p:nvPr/>
        </p:nvSpPr>
        <p:spPr>
          <a:xfrm>
            <a:off x="481420" y="5029365"/>
            <a:ext cx="6986180" cy="32004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menus use do-while validation loops to reject invalid choices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28">
            <a:extLst>
              <a:ext uri="{FF2B5EF4-FFF2-40B4-BE49-F238E27FC236}">
                <a16:creationId xmlns:a16="http://schemas.microsoft.com/office/drawing/2014/main" id="{F45489E8-6579-7C4C-4A44-6960CAC6FFF4}"/>
              </a:ext>
            </a:extLst>
          </p:cNvPr>
          <p:cNvSpPr/>
          <p:nvPr/>
        </p:nvSpPr>
        <p:spPr>
          <a:xfrm>
            <a:off x="481420" y="5395125"/>
            <a:ext cx="6986180" cy="32004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After most operations the user is prompted Y/N to return to the parent menu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1" name="Text 29">
            <a:extLst>
              <a:ext uri="{FF2B5EF4-FFF2-40B4-BE49-F238E27FC236}">
                <a16:creationId xmlns:a16="http://schemas.microsoft.com/office/drawing/2014/main" id="{421111DC-A5C6-E82D-D15A-EB373452A50A}"/>
              </a:ext>
            </a:extLst>
          </p:cNvPr>
          <p:cNvSpPr/>
          <p:nvPr/>
        </p:nvSpPr>
        <p:spPr>
          <a:xfrm>
            <a:off x="481420" y="5760885"/>
            <a:ext cx="6986180" cy="32004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Quiz scoring adds the number of correct answers directly to the student’s marks field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86B2D010-0819-AB0A-60E9-3175131EBB1E}"/>
              </a:ext>
            </a:extLst>
          </p:cNvPr>
          <p:cNvSpPr/>
          <p:nvPr/>
        </p:nvSpPr>
        <p:spPr>
          <a:xfrm>
            <a:off x="481420" y="6126645"/>
            <a:ext cx="6986180" cy="32004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Bubble sort is used for ID ordering and for marks-descending display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8" name="Text 1">
            <a:extLst>
              <a:ext uri="{FF2B5EF4-FFF2-40B4-BE49-F238E27FC236}">
                <a16:creationId xmlns:a16="http://schemas.microsoft.com/office/drawing/2014/main" id="{CE7077F0-9E33-BB68-7707-85C388F40E70}"/>
              </a:ext>
            </a:extLst>
          </p:cNvPr>
          <p:cNvSpPr/>
          <p:nvPr/>
        </p:nvSpPr>
        <p:spPr>
          <a:xfrm>
            <a:off x="481420" y="1042843"/>
            <a:ext cx="50151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Language, Libraries &amp; Techniques</a:t>
            </a:r>
            <a:endParaRPr lang="en-US" sz="2400" dirty="0"/>
          </a:p>
        </p:txBody>
      </p:sp>
      <p:sp>
        <p:nvSpPr>
          <p:cNvPr id="69" name="Shape 6">
            <a:extLst>
              <a:ext uri="{FF2B5EF4-FFF2-40B4-BE49-F238E27FC236}">
                <a16:creationId xmlns:a16="http://schemas.microsoft.com/office/drawing/2014/main" id="{9EE66518-72CD-2B62-FDA6-FCD6F1FC0DC3}"/>
              </a:ext>
            </a:extLst>
          </p:cNvPr>
          <p:cNvSpPr/>
          <p:nvPr/>
        </p:nvSpPr>
        <p:spPr>
          <a:xfrm>
            <a:off x="481420" y="1971771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7">
            <a:extLst>
              <a:ext uri="{FF2B5EF4-FFF2-40B4-BE49-F238E27FC236}">
                <a16:creationId xmlns:a16="http://schemas.microsoft.com/office/drawing/2014/main" id="{13C85165-76C5-29C9-3C71-3FE0C4D89B78}"/>
              </a:ext>
            </a:extLst>
          </p:cNvPr>
          <p:cNvSpPr/>
          <p:nvPr/>
        </p:nvSpPr>
        <p:spPr>
          <a:xfrm>
            <a:off x="710020" y="2172939"/>
            <a:ext cx="365760" cy="54864"/>
          </a:xfrm>
          <a:prstGeom prst="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8">
            <a:extLst>
              <a:ext uri="{FF2B5EF4-FFF2-40B4-BE49-F238E27FC236}">
                <a16:creationId xmlns:a16="http://schemas.microsoft.com/office/drawing/2014/main" id="{C7CD0F0F-5990-5F23-5C54-E67A6FB5DAB5}"/>
              </a:ext>
            </a:extLst>
          </p:cNvPr>
          <p:cNvSpPr/>
          <p:nvPr/>
        </p:nvSpPr>
        <p:spPr>
          <a:xfrm>
            <a:off x="710020" y="2300955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Libraries</a:t>
            </a:r>
            <a:endParaRPr lang="en-US" sz="1450" dirty="0"/>
          </a:p>
        </p:txBody>
      </p:sp>
      <p:sp>
        <p:nvSpPr>
          <p:cNvPr id="72" name="Text 9">
            <a:extLst>
              <a:ext uri="{FF2B5EF4-FFF2-40B4-BE49-F238E27FC236}">
                <a16:creationId xmlns:a16="http://schemas.microsoft.com/office/drawing/2014/main" id="{E1982671-F728-FADC-FF9F-193715DD7F16}"/>
              </a:ext>
            </a:extLst>
          </p:cNvPr>
          <p:cNvSpPr/>
          <p:nvPr/>
        </p:nvSpPr>
        <p:spPr>
          <a:xfrm>
            <a:off x="710020" y="2685003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stdio.h, string.h, stdlib.h, ctype.h, windows.h</a:t>
            </a:r>
            <a:endParaRPr lang="en-US" sz="1150" dirty="0"/>
          </a:p>
        </p:txBody>
      </p:sp>
      <p:sp>
        <p:nvSpPr>
          <p:cNvPr id="76" name="Shape 10">
            <a:extLst>
              <a:ext uri="{FF2B5EF4-FFF2-40B4-BE49-F238E27FC236}">
                <a16:creationId xmlns:a16="http://schemas.microsoft.com/office/drawing/2014/main" id="{B1F55EF0-0D92-F9D6-86E7-DAB0B813497E}"/>
              </a:ext>
            </a:extLst>
          </p:cNvPr>
          <p:cNvSpPr/>
          <p:nvPr/>
        </p:nvSpPr>
        <p:spPr>
          <a:xfrm>
            <a:off x="4294468" y="1971771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0C4CF874-BFAC-7A5D-98FF-0C049BB7331E}"/>
              </a:ext>
            </a:extLst>
          </p:cNvPr>
          <p:cNvSpPr/>
          <p:nvPr/>
        </p:nvSpPr>
        <p:spPr>
          <a:xfrm>
            <a:off x="4523068" y="2172939"/>
            <a:ext cx="365760" cy="54864"/>
          </a:xfrm>
          <a:prstGeom prst="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AA7508EB-F406-0553-C723-04ACF074AFA5}"/>
              </a:ext>
            </a:extLst>
          </p:cNvPr>
          <p:cNvSpPr/>
          <p:nvPr/>
        </p:nvSpPr>
        <p:spPr>
          <a:xfrm>
            <a:off x="4523068" y="2300955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Constructs</a:t>
            </a:r>
            <a:endParaRPr lang="en-US" sz="1450" dirty="0"/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F9C46D85-880E-2FAB-3D9F-81B7CDAEE025}"/>
              </a:ext>
            </a:extLst>
          </p:cNvPr>
          <p:cNvSpPr/>
          <p:nvPr/>
        </p:nvSpPr>
        <p:spPr>
          <a:xfrm>
            <a:off x="4523068" y="2685003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structs, functions, switch-case menus, do-while validation</a:t>
            </a:r>
            <a:endParaRPr lang="en-US" sz="1150" dirty="0"/>
          </a:p>
        </p:txBody>
      </p:sp>
      <p:sp>
        <p:nvSpPr>
          <p:cNvPr id="80" name="Shape 14">
            <a:extLst>
              <a:ext uri="{FF2B5EF4-FFF2-40B4-BE49-F238E27FC236}">
                <a16:creationId xmlns:a16="http://schemas.microsoft.com/office/drawing/2014/main" id="{F4A9C6AA-2EF1-6B6A-6ADC-2C4B919306C3}"/>
              </a:ext>
            </a:extLst>
          </p:cNvPr>
          <p:cNvSpPr/>
          <p:nvPr/>
        </p:nvSpPr>
        <p:spPr>
          <a:xfrm>
            <a:off x="8134948" y="1971771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15">
            <a:extLst>
              <a:ext uri="{FF2B5EF4-FFF2-40B4-BE49-F238E27FC236}">
                <a16:creationId xmlns:a16="http://schemas.microsoft.com/office/drawing/2014/main" id="{278296D1-A6AB-5EC2-ADED-3E837E6E942B}"/>
              </a:ext>
            </a:extLst>
          </p:cNvPr>
          <p:cNvSpPr/>
          <p:nvPr/>
        </p:nvSpPr>
        <p:spPr>
          <a:xfrm>
            <a:off x="8363548" y="2172939"/>
            <a:ext cx="365760" cy="54864"/>
          </a:xfrm>
          <a:prstGeom prst="rect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16">
            <a:extLst>
              <a:ext uri="{FF2B5EF4-FFF2-40B4-BE49-F238E27FC236}">
                <a16:creationId xmlns:a16="http://schemas.microsoft.com/office/drawing/2014/main" id="{CBD98886-6680-430D-8F0E-04E85D08E184}"/>
              </a:ext>
            </a:extLst>
          </p:cNvPr>
          <p:cNvSpPr/>
          <p:nvPr/>
        </p:nvSpPr>
        <p:spPr>
          <a:xfrm>
            <a:off x="8363548" y="2300955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1450" dirty="0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41636A60-3CDC-8CAC-CB0F-3BD4EA4A77CD}"/>
              </a:ext>
            </a:extLst>
          </p:cNvPr>
          <p:cNvSpPr/>
          <p:nvPr/>
        </p:nvSpPr>
        <p:spPr>
          <a:xfrm>
            <a:off x="8363548" y="2685003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fopen / fscanf / fprintf for persistent storage across runs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731993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CCCD1D-24F7-7818-1BC1-F700A1D07CDD}"/>
              </a:ext>
            </a:extLst>
          </p:cNvPr>
          <p:cNvSpPr txBox="1"/>
          <p:nvPr/>
        </p:nvSpPr>
        <p:spPr>
          <a:xfrm>
            <a:off x="287867" y="2155062"/>
            <a:ext cx="11616266" cy="25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Darker Grotesque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319019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45562-EF5A-7E04-A272-61897D8CA6A5}"/>
              </a:ext>
            </a:extLst>
          </p:cNvPr>
          <p:cNvSpPr txBox="1"/>
          <p:nvPr/>
        </p:nvSpPr>
        <p:spPr>
          <a:xfrm>
            <a:off x="299484" y="407551"/>
            <a:ext cx="564257" cy="1855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prstClr val="white"/>
                </a:solidFill>
                <a:latin typeface="Darker Grotesque" pitchFamily="2" charset="0"/>
              </a:rPr>
              <a:t>Demo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arker Grotesque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1B7FAE-4866-A263-E991-D4FCBCB852E5}"/>
              </a:ext>
            </a:extLst>
          </p:cNvPr>
          <p:cNvCxnSpPr/>
          <p:nvPr/>
        </p:nvCxnSpPr>
        <p:spPr>
          <a:xfrm>
            <a:off x="299484" y="623779"/>
            <a:ext cx="11644423" cy="0"/>
          </a:xfrm>
          <a:prstGeom prst="line">
            <a:avLst/>
          </a:prstGeom>
          <a:noFill/>
          <a:ln w="6350" cap="rnd">
            <a:solidFill>
              <a:schemeClr val="bg1">
                <a:alpha val="5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!!competition">
            <a:extLst>
              <a:ext uri="{FF2B5EF4-FFF2-40B4-BE49-F238E27FC236}">
                <a16:creationId xmlns:a16="http://schemas.microsoft.com/office/drawing/2014/main" id="{74012B2E-5A72-9F26-6B5E-56414F0A3580}"/>
              </a:ext>
            </a:extLst>
          </p:cNvPr>
          <p:cNvGrpSpPr/>
          <p:nvPr/>
        </p:nvGrpSpPr>
        <p:grpSpPr>
          <a:xfrm>
            <a:off x="5842207" y="369986"/>
            <a:ext cx="507586" cy="507586"/>
            <a:chOff x="7790768" y="1868829"/>
            <a:chExt cx="507586" cy="50758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A22C53F-3E56-34E9-2CA1-3B30B8FB208B}"/>
                </a:ext>
              </a:extLst>
            </p:cNvPr>
            <p:cNvSpPr/>
            <p:nvPr/>
          </p:nvSpPr>
          <p:spPr>
            <a:xfrm>
              <a:off x="7790768" y="1868829"/>
              <a:ext cx="507586" cy="507586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</a:ln>
            <a:effectLst>
              <a:innerShdw blurRad="2794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 dirty="0">
                <a:latin typeface="Darker Grotesque" pitchFamily="2" charset="0"/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EC2CCEE-EFF3-9F23-541D-D7987B57C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18561" y="1996622"/>
              <a:ext cx="252000" cy="252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C9AE87C-4A40-567F-1EA8-116E2015F342}"/>
              </a:ext>
            </a:extLst>
          </p:cNvPr>
          <p:cNvSpPr txBox="1"/>
          <p:nvPr/>
        </p:nvSpPr>
        <p:spPr>
          <a:xfrm>
            <a:off x="299484" y="749779"/>
            <a:ext cx="401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Features Demo</a:t>
            </a:r>
          </a:p>
        </p:txBody>
      </p:sp>
      <p:pic>
        <p:nvPicPr>
          <p:cNvPr id="4" name="video_20260819_203646">
            <a:hlinkClick r:id="" action="ppaction://media"/>
            <a:extLst>
              <a:ext uri="{FF2B5EF4-FFF2-40B4-BE49-F238E27FC236}">
                <a16:creationId xmlns:a16="http://schemas.microsoft.com/office/drawing/2014/main" id="{5A58F77E-5872-6449-DEAD-4F684188B2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7627" y="1264080"/>
            <a:ext cx="9944746" cy="559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64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3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CCCD1D-24F7-7818-1BC1-F700A1D07CDD}"/>
              </a:ext>
            </a:extLst>
          </p:cNvPr>
          <p:cNvSpPr txBox="1"/>
          <p:nvPr/>
        </p:nvSpPr>
        <p:spPr>
          <a:xfrm>
            <a:off x="287867" y="2155062"/>
            <a:ext cx="11616266" cy="25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Darker Grotesque" pitchFamily="2" charset="0"/>
              </a:rPr>
              <a:t>Reflections</a:t>
            </a:r>
          </a:p>
        </p:txBody>
      </p:sp>
    </p:spTree>
    <p:extLst>
      <p:ext uri="{BB962C8B-B14F-4D97-AF65-F5344CB8AC3E}">
        <p14:creationId xmlns:p14="http://schemas.microsoft.com/office/powerpoint/2010/main" val="403463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2FB639-1112-1ED9-1906-8EA464A9003B}"/>
              </a:ext>
            </a:extLst>
          </p:cNvPr>
          <p:cNvSpPr txBox="1"/>
          <p:nvPr/>
        </p:nvSpPr>
        <p:spPr>
          <a:xfrm>
            <a:off x="299484" y="407551"/>
            <a:ext cx="1040349" cy="1855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arker Grotesque" pitchFamily="2" charset="0"/>
              </a:rPr>
              <a:t>Reflections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D6D4C48-33D4-1775-7908-0925B45C1FD0}"/>
              </a:ext>
            </a:extLst>
          </p:cNvPr>
          <p:cNvGrpSpPr/>
          <p:nvPr/>
        </p:nvGrpSpPr>
        <p:grpSpPr>
          <a:xfrm>
            <a:off x="299484" y="369986"/>
            <a:ext cx="11644423" cy="3157166"/>
            <a:chOff x="299484" y="369986"/>
            <a:chExt cx="11644423" cy="315716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8524FAE-90ED-B32B-21F7-676C0CDD01F7}"/>
                </a:ext>
              </a:extLst>
            </p:cNvPr>
            <p:cNvCxnSpPr/>
            <p:nvPr/>
          </p:nvCxnSpPr>
          <p:spPr>
            <a:xfrm>
              <a:off x="299484" y="623779"/>
              <a:ext cx="11644423" cy="0"/>
            </a:xfrm>
            <a:prstGeom prst="line">
              <a:avLst/>
            </a:prstGeom>
            <a:noFill/>
            <a:ln w="6350" cap="rnd">
              <a:solidFill>
                <a:schemeClr val="bg1">
                  <a:alpha val="5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9" name="!!financials">
              <a:extLst>
                <a:ext uri="{FF2B5EF4-FFF2-40B4-BE49-F238E27FC236}">
                  <a16:creationId xmlns:a16="http://schemas.microsoft.com/office/drawing/2014/main" id="{9C0CFB6B-EE4B-3333-8811-4FA448482CCD}"/>
                </a:ext>
              </a:extLst>
            </p:cNvPr>
            <p:cNvGrpSpPr/>
            <p:nvPr/>
          </p:nvGrpSpPr>
          <p:grpSpPr>
            <a:xfrm>
              <a:off x="5842207" y="369986"/>
              <a:ext cx="507586" cy="507586"/>
              <a:chOff x="8769760" y="4481585"/>
              <a:chExt cx="507586" cy="50758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3EBAA0C-FB11-6D90-8773-672D676BB408}"/>
                  </a:ext>
                </a:extLst>
              </p:cNvPr>
              <p:cNvSpPr/>
              <p:nvPr/>
            </p:nvSpPr>
            <p:spPr>
              <a:xfrm>
                <a:off x="8769760" y="4481585"/>
                <a:ext cx="507586" cy="507586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bg1"/>
                </a:solidFill>
              </a:ln>
              <a:effectLst>
                <a:innerShdw blurRad="279400">
                  <a:schemeClr val="bg1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GB" dirty="0">
                  <a:latin typeface="Darker Grotesque" pitchFamily="2" charset="0"/>
                </a:endParaRPr>
              </a:p>
            </p:txBody>
          </p:sp>
          <p:pic>
            <p:nvPicPr>
              <p:cNvPr id="61" name="Graphic 60" descr="Head with gears">
                <a:extLst>
                  <a:ext uri="{FF2B5EF4-FFF2-40B4-BE49-F238E27FC236}">
                    <a16:creationId xmlns:a16="http://schemas.microsoft.com/office/drawing/2014/main" id="{EB7987F8-2A8B-2ACB-3FB4-3BEB12762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8897553" y="4609378"/>
                <a:ext cx="252000" cy="252000"/>
              </a:xfrm>
              <a:prstGeom prst="rect">
                <a:avLst/>
              </a:prstGeom>
            </p:spPr>
          </p:pic>
        </p:grp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1EC7A7B9-AE6B-7275-D5F6-A4ADC4DB8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20981" y="3330848"/>
              <a:ext cx="196304" cy="196304"/>
            </a:xfrm>
            <a:prstGeom prst="rect">
              <a:avLst/>
            </a:prstGeom>
          </p:spPr>
        </p:pic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282D8829-F3CA-57E0-D590-18D882E05A27}"/>
              </a:ext>
            </a:extLst>
          </p:cNvPr>
          <p:cNvSpPr/>
          <p:nvPr/>
        </p:nvSpPr>
        <p:spPr>
          <a:xfrm>
            <a:off x="552720" y="1451819"/>
            <a:ext cx="5394960" cy="45720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9DD3CC0-D2B0-51E5-3D9A-18B0B94A5268}"/>
              </a:ext>
            </a:extLst>
          </p:cNvPr>
          <p:cNvSpPr/>
          <p:nvPr/>
        </p:nvSpPr>
        <p:spPr>
          <a:xfrm>
            <a:off x="552720" y="1428541"/>
            <a:ext cx="5394960" cy="109728"/>
          </a:xfrm>
          <a:prstGeom prst="rect">
            <a:avLst/>
          </a:prstGeom>
          <a:solidFill>
            <a:srgbClr val="E86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D30C26CC-9D06-B397-2BE9-75AA82077B10}"/>
              </a:ext>
            </a:extLst>
          </p:cNvPr>
          <p:cNvSpPr/>
          <p:nvPr/>
        </p:nvSpPr>
        <p:spPr>
          <a:xfrm>
            <a:off x="827040" y="170286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FF8DC3E3-B547-C7FC-CF5F-86C8ADB3522E}"/>
              </a:ext>
            </a:extLst>
          </p:cNvPr>
          <p:cNvSpPr/>
          <p:nvPr/>
        </p:nvSpPr>
        <p:spPr>
          <a:xfrm>
            <a:off x="827040" y="22515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Windows-only Sleep, system("</a:t>
            </a:r>
            <a:r>
              <a:rPr lang="en-US" sz="1500" dirty="0" err="1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")</a:t>
            </a:r>
            <a:endParaRPr lang="en-US" sz="15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968A15DE-567A-B00D-788D-66A61BCA4324}"/>
              </a:ext>
            </a:extLst>
          </p:cNvPr>
          <p:cNvSpPr/>
          <p:nvPr/>
        </p:nvSpPr>
        <p:spPr>
          <a:xfrm>
            <a:off x="827040" y="27087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password protection; only ID match</a:t>
            </a:r>
            <a:endParaRPr lang="en-US" sz="15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4A9DB731-939E-E9A6-BFE3-07A37CAD1304}"/>
              </a:ext>
            </a:extLst>
          </p:cNvPr>
          <p:cNvSpPr/>
          <p:nvPr/>
        </p:nvSpPr>
        <p:spPr>
          <a:xfrm>
            <a:off x="827040" y="31659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Names cannot contain spaces in name (scanf %s)</a:t>
            </a:r>
            <a:endParaRPr lang="en-US" sz="15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A1F1404D-DD60-BB61-4F1A-96F344BD3FC9}"/>
              </a:ext>
            </a:extLst>
          </p:cNvPr>
          <p:cNvSpPr/>
          <p:nvPr/>
        </p:nvSpPr>
        <p:spPr>
          <a:xfrm>
            <a:off x="827040" y="36231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concurrent users</a:t>
            </a:r>
            <a:endParaRPr lang="en-US" sz="15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51905327-FD27-6FFF-D114-6B425F0D432B}"/>
              </a:ext>
            </a:extLst>
          </p:cNvPr>
          <p:cNvSpPr/>
          <p:nvPr/>
        </p:nvSpPr>
        <p:spPr>
          <a:xfrm>
            <a:off x="827040" y="40803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multi-teacher / multi-class support</a:t>
            </a:r>
            <a:endParaRPr lang="en-US" sz="15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DC194878-B141-44A8-B850-7B7129ABD534}"/>
              </a:ext>
            </a:extLst>
          </p:cNvPr>
          <p:cNvSpPr/>
          <p:nvPr/>
        </p:nvSpPr>
        <p:spPr>
          <a:xfrm>
            <a:off x="827040" y="45375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Bubble sorting is slow as it is O(n²)</a:t>
            </a:r>
            <a:endParaRPr lang="en-US" sz="15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DF19191E-5FBC-8D7A-AF56-0DA655A40425}"/>
              </a:ext>
            </a:extLst>
          </p:cNvPr>
          <p:cNvSpPr/>
          <p:nvPr/>
        </p:nvSpPr>
        <p:spPr>
          <a:xfrm>
            <a:off x="827040" y="49947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input validation for marks range</a:t>
            </a:r>
            <a:endParaRPr lang="en-US" sz="150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7BA296B3-E1A7-8AA3-EF19-CCCDC426A520}"/>
              </a:ext>
            </a:extLst>
          </p:cNvPr>
          <p:cNvSpPr/>
          <p:nvPr/>
        </p:nvSpPr>
        <p:spPr>
          <a:xfrm>
            <a:off x="6222000" y="1428541"/>
            <a:ext cx="5394960" cy="45720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02DAE05F-7143-2130-EC4E-42D4B1743D01}"/>
              </a:ext>
            </a:extLst>
          </p:cNvPr>
          <p:cNvSpPr/>
          <p:nvPr/>
        </p:nvSpPr>
        <p:spPr>
          <a:xfrm>
            <a:off x="6222000" y="1428541"/>
            <a:ext cx="5394960" cy="109728"/>
          </a:xfrm>
          <a:prstGeom prst="rect">
            <a:avLst/>
          </a:prstGeom>
          <a:solidFill>
            <a:srgbClr val="8AA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D14E661C-550C-6199-F662-6E564E6A64C4}"/>
              </a:ext>
            </a:extLst>
          </p:cNvPr>
          <p:cNvSpPr/>
          <p:nvPr/>
        </p:nvSpPr>
        <p:spPr>
          <a:xfrm>
            <a:off x="6496320" y="170286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2F8FFD31-8F5E-2900-8DC2-8220257CA00A}"/>
              </a:ext>
            </a:extLst>
          </p:cNvPr>
          <p:cNvSpPr/>
          <p:nvPr/>
        </p:nvSpPr>
        <p:spPr>
          <a:xfrm>
            <a:off x="6496320" y="22515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Cross-platform compatibility</a:t>
            </a:r>
            <a:endParaRPr lang="en-US" sz="15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A8FDB3A9-D42A-20B2-73E1-0BD528F4F808}"/>
              </a:ext>
            </a:extLst>
          </p:cNvPr>
          <p:cNvSpPr/>
          <p:nvPr/>
        </p:nvSpPr>
        <p:spPr>
          <a:xfrm>
            <a:off x="6496320" y="27087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Password hashing and role permissions</a:t>
            </a:r>
            <a:endParaRPr lang="en-US" sz="150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DE814692-EA9D-CBD3-2350-FC52EDCA50BD}"/>
              </a:ext>
            </a:extLst>
          </p:cNvPr>
          <p:cNvSpPr/>
          <p:nvPr/>
        </p:nvSpPr>
        <p:spPr>
          <a:xfrm>
            <a:off x="6496320" y="31659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Full-name support with </a:t>
            </a:r>
            <a:r>
              <a:rPr lang="en-US" sz="1500" dirty="0" err="1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fgets</a:t>
            </a:r>
            <a:endParaRPr lang="en-US" sz="15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AF4A1288-333F-BE06-3486-C577E99FF4C1}"/>
              </a:ext>
            </a:extLst>
          </p:cNvPr>
          <p:cNvSpPr/>
          <p:nvPr/>
        </p:nvSpPr>
        <p:spPr>
          <a:xfrm>
            <a:off x="6496320" y="36231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course-wise records for multiple teachers</a:t>
            </a:r>
            <a:endParaRPr lang="en-US" sz="1600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5D034AE8-31C7-0A34-8DE7-CAEC051BCA9D}"/>
              </a:ext>
            </a:extLst>
          </p:cNvPr>
          <p:cNvSpPr/>
          <p:nvPr/>
        </p:nvSpPr>
        <p:spPr>
          <a:xfrm>
            <a:off x="6496320" y="40803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console menu to a GUI</a:t>
            </a:r>
            <a:endParaRPr lang="en-US" sz="16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463489A9-4D22-3EB8-2C9C-3219FB1D2239}"/>
              </a:ext>
            </a:extLst>
          </p:cNvPr>
          <p:cNvSpPr/>
          <p:nvPr/>
        </p:nvSpPr>
        <p:spPr>
          <a:xfrm>
            <a:off x="6496320" y="45375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Export reports or records to PDF</a:t>
            </a:r>
            <a:endParaRPr lang="en-US" sz="1500" dirty="0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F5852D22-39C4-D52D-7B6D-D85940A638C6}"/>
              </a:ext>
            </a:extLst>
          </p:cNvPr>
          <p:cNvSpPr/>
          <p:nvPr/>
        </p:nvSpPr>
        <p:spPr>
          <a:xfrm>
            <a:off x="6496320" y="49947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Database backend with SQLite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86427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CCCD1D-24F7-7818-1BC1-F700A1D07CDD}"/>
              </a:ext>
            </a:extLst>
          </p:cNvPr>
          <p:cNvSpPr txBox="1"/>
          <p:nvPr/>
        </p:nvSpPr>
        <p:spPr>
          <a:xfrm>
            <a:off x="287867" y="2155061"/>
            <a:ext cx="11616266" cy="25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Darker Grotesque" pitchFamily="2" charset="0"/>
              </a:rPr>
              <a:t>Our </a:t>
            </a:r>
            <a:r>
              <a:rPr lang="en-US" sz="19500" kern="0" dirty="0">
                <a:latin typeface="Darker Grotesque" pitchFamily="2" charset="0"/>
              </a:rPr>
              <a:t>Group</a:t>
            </a:r>
            <a:endParaRPr kumimoji="0" lang="en-US" sz="195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Darker Grotesqu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84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9201F-4C62-73C1-5D02-47FC1133D852}"/>
              </a:ext>
            </a:extLst>
          </p:cNvPr>
          <p:cNvSpPr txBox="1"/>
          <p:nvPr/>
        </p:nvSpPr>
        <p:spPr>
          <a:xfrm>
            <a:off x="299484" y="407551"/>
            <a:ext cx="998671" cy="1855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arker Grotesque" pitchFamily="2" charset="0"/>
              </a:rPr>
              <a:t>Our Group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325B17-A05F-6532-9083-BB79C8316BCC}"/>
              </a:ext>
            </a:extLst>
          </p:cNvPr>
          <p:cNvCxnSpPr/>
          <p:nvPr/>
        </p:nvCxnSpPr>
        <p:spPr>
          <a:xfrm>
            <a:off x="299484" y="623779"/>
            <a:ext cx="11644423" cy="0"/>
          </a:xfrm>
          <a:prstGeom prst="line">
            <a:avLst/>
          </a:prstGeom>
          <a:noFill/>
          <a:ln w="6350" cap="rnd">
            <a:solidFill>
              <a:schemeClr val="bg1">
                <a:alpha val="5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13D48D54-FE47-A65A-4E0D-AAA061751F9C}"/>
              </a:ext>
            </a:extLst>
          </p:cNvPr>
          <p:cNvSpPr/>
          <p:nvPr/>
        </p:nvSpPr>
        <p:spPr>
          <a:xfrm>
            <a:off x="5794582" y="368193"/>
            <a:ext cx="507586" cy="507586"/>
          </a:xfrm>
          <a:prstGeom prst="ellipse">
            <a:avLst/>
          </a:prstGeom>
          <a:solidFill>
            <a:schemeClr val="tx1"/>
          </a:solidFill>
          <a:ln w="6350">
            <a:solidFill>
              <a:schemeClr val="bg1"/>
            </a:solidFill>
          </a:ln>
          <a:effectLst>
            <a:innerShdw blurRad="2794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GB" dirty="0">
              <a:latin typeface="Darker Grotesque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6444F9E-566D-DCD4-EE9F-9D37AC6C8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2375" y="500333"/>
            <a:ext cx="252000" cy="25200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5451C98B-D7BA-F8A4-406E-A2278BAD6317}"/>
              </a:ext>
            </a:extLst>
          </p:cNvPr>
          <p:cNvSpPr/>
          <p:nvPr/>
        </p:nvSpPr>
        <p:spPr>
          <a:xfrm>
            <a:off x="4275086" y="1007919"/>
            <a:ext cx="3641827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 01</a:t>
            </a:r>
            <a:endParaRPr lang="en-US" sz="3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F8AC1A1-2C9B-D78A-583A-6757AAF1B2F9}"/>
              </a:ext>
            </a:extLst>
          </p:cNvPr>
          <p:cNvSpPr/>
          <p:nvPr/>
        </p:nvSpPr>
        <p:spPr>
          <a:xfrm>
            <a:off x="4300781" y="1503459"/>
            <a:ext cx="3641827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A9355A-BA89-7233-FBBE-152BAAD084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3887" y="1956887"/>
            <a:ext cx="2944225" cy="29442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4FB621-173C-FDA6-E916-1E196ADC64F3}"/>
              </a:ext>
            </a:extLst>
          </p:cNvPr>
          <p:cNvSpPr txBox="1"/>
          <p:nvPr/>
        </p:nvSpPr>
        <p:spPr>
          <a:xfrm>
            <a:off x="4623886" y="5161253"/>
            <a:ext cx="2944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Md. Rafsan Janee</a:t>
            </a:r>
          </a:p>
          <a:p>
            <a:pPr algn="ctr"/>
            <a:r>
              <a:rPr lang="en-US" dirty="0"/>
              <a:t>ID: 2026-2-60-169</a:t>
            </a: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8BC351C-997E-3272-F5F6-31039B5E0567}"/>
              </a:ext>
            </a:extLst>
          </p:cNvPr>
          <p:cNvSpPr/>
          <p:nvPr/>
        </p:nvSpPr>
        <p:spPr>
          <a:xfrm>
            <a:off x="633259" y="1503459"/>
            <a:ext cx="3641827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AC97024-D885-8D8A-30E4-F8CC1CDA60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6365" y="1956887"/>
            <a:ext cx="2944225" cy="29442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61A53A5-B890-7551-CC67-5CF854B8A2C2}"/>
              </a:ext>
            </a:extLst>
          </p:cNvPr>
          <p:cNvSpPr txBox="1"/>
          <p:nvPr/>
        </p:nvSpPr>
        <p:spPr>
          <a:xfrm>
            <a:off x="956364" y="5161253"/>
            <a:ext cx="2944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Maliha Farzana</a:t>
            </a:r>
          </a:p>
          <a:p>
            <a:pPr algn="ctr"/>
            <a:r>
              <a:rPr lang="en-US" dirty="0"/>
              <a:t>ID: 2026-2-60-214</a:t>
            </a: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C9597168-7B78-2B5E-E51C-C9D295D22658}"/>
              </a:ext>
            </a:extLst>
          </p:cNvPr>
          <p:cNvSpPr/>
          <p:nvPr/>
        </p:nvSpPr>
        <p:spPr>
          <a:xfrm>
            <a:off x="7968304" y="1508539"/>
            <a:ext cx="3641827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68598BE-641D-0441-54C4-BE10ECC2A5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1410" y="1961967"/>
            <a:ext cx="2944225" cy="294422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8499EF9-D69E-7DD6-7CC6-5F9E00D7C5E7}"/>
              </a:ext>
            </a:extLst>
          </p:cNvPr>
          <p:cNvSpPr txBox="1"/>
          <p:nvPr/>
        </p:nvSpPr>
        <p:spPr>
          <a:xfrm>
            <a:off x="8291409" y="5166333"/>
            <a:ext cx="2944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Tanvir </a:t>
            </a:r>
            <a:r>
              <a:rPr lang="en-US" dirty="0" err="1"/>
              <a:t>Mahdin</a:t>
            </a:r>
            <a:r>
              <a:rPr lang="en-US" dirty="0"/>
              <a:t> Haque</a:t>
            </a:r>
          </a:p>
          <a:p>
            <a:pPr algn="ctr"/>
            <a:r>
              <a:rPr lang="en-US" dirty="0"/>
              <a:t>ID: 2026-2-60-220</a:t>
            </a:r>
          </a:p>
        </p:txBody>
      </p:sp>
    </p:spTree>
    <p:extLst>
      <p:ext uri="{BB962C8B-B14F-4D97-AF65-F5344CB8AC3E}">
        <p14:creationId xmlns:p14="http://schemas.microsoft.com/office/powerpoint/2010/main" val="191820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">
            <a:extLst>
              <a:ext uri="{FF2B5EF4-FFF2-40B4-BE49-F238E27FC236}">
                <a16:creationId xmlns:a16="http://schemas.microsoft.com/office/drawing/2014/main" id="{346A17D1-10F6-69F0-B100-8E0139474C68}"/>
              </a:ext>
            </a:extLst>
          </p:cNvPr>
          <p:cNvSpPr/>
          <p:nvPr/>
        </p:nvSpPr>
        <p:spPr>
          <a:xfrm>
            <a:off x="3900589" y="1002043"/>
            <a:ext cx="4768175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Something on our behalf</a:t>
            </a:r>
            <a:endParaRPr lang="en-US" sz="3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99A4296A-AE36-8C46-E834-206D8D15A1DE}"/>
              </a:ext>
            </a:extLst>
          </p:cNvPr>
          <p:cNvSpPr/>
          <p:nvPr/>
        </p:nvSpPr>
        <p:spPr>
          <a:xfrm>
            <a:off x="4300781" y="1503459"/>
            <a:ext cx="3641827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158BE-2649-B300-D61E-735DE16AD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3887" y="2322148"/>
            <a:ext cx="2944225" cy="2213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B7A08-3ABE-5B62-16FE-B1CEF87CFBC2}"/>
              </a:ext>
            </a:extLst>
          </p:cNvPr>
          <p:cNvSpPr txBox="1"/>
          <p:nvPr/>
        </p:nvSpPr>
        <p:spPr>
          <a:xfrm>
            <a:off x="4623886" y="5161253"/>
            <a:ext cx="2944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Md. Rafsan Janee</a:t>
            </a:r>
          </a:p>
          <a:p>
            <a:pPr algn="ctr"/>
            <a:r>
              <a:rPr lang="en-US" dirty="0"/>
              <a:t>ID: 2026-2-60-169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2D470ED-B288-616A-8836-25D65E817BAF}"/>
              </a:ext>
            </a:extLst>
          </p:cNvPr>
          <p:cNvSpPr/>
          <p:nvPr/>
        </p:nvSpPr>
        <p:spPr>
          <a:xfrm>
            <a:off x="633259" y="1503459"/>
            <a:ext cx="3641827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4F2819-8D0F-2DF1-6911-558D82143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6365" y="2324915"/>
            <a:ext cx="2944225" cy="22081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CF8F5-7624-BAC9-DEB2-73EB8AC947E7}"/>
              </a:ext>
            </a:extLst>
          </p:cNvPr>
          <p:cNvSpPr txBox="1"/>
          <p:nvPr/>
        </p:nvSpPr>
        <p:spPr>
          <a:xfrm>
            <a:off x="956364" y="5161253"/>
            <a:ext cx="2944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Maliha Farzana</a:t>
            </a:r>
          </a:p>
          <a:p>
            <a:pPr algn="ctr"/>
            <a:r>
              <a:rPr lang="en-US" dirty="0"/>
              <a:t>ID: 2026-2-60-214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ECA93BF-78DC-FA4B-CE15-3E408AB98244}"/>
              </a:ext>
            </a:extLst>
          </p:cNvPr>
          <p:cNvSpPr/>
          <p:nvPr/>
        </p:nvSpPr>
        <p:spPr>
          <a:xfrm>
            <a:off x="7968304" y="1508539"/>
            <a:ext cx="3641827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7F6968-51CA-F555-2DDA-71C996AE5D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1410" y="2236084"/>
            <a:ext cx="2944225" cy="23959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B6A064-1BD3-CC21-6C53-894136EFF3AB}"/>
              </a:ext>
            </a:extLst>
          </p:cNvPr>
          <p:cNvSpPr txBox="1"/>
          <p:nvPr/>
        </p:nvSpPr>
        <p:spPr>
          <a:xfrm>
            <a:off x="8291409" y="5166333"/>
            <a:ext cx="2944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Tanvir </a:t>
            </a:r>
            <a:r>
              <a:rPr lang="en-US" dirty="0" err="1"/>
              <a:t>Mahdin</a:t>
            </a:r>
            <a:r>
              <a:rPr lang="en-US" dirty="0"/>
              <a:t> Haque</a:t>
            </a:r>
          </a:p>
          <a:p>
            <a:pPr algn="ctr"/>
            <a:r>
              <a:rPr lang="en-US" dirty="0"/>
              <a:t>ID: 2026-2-60-220</a:t>
            </a:r>
          </a:p>
        </p:txBody>
      </p:sp>
    </p:spTree>
    <p:extLst>
      <p:ext uri="{BB962C8B-B14F-4D97-AF65-F5344CB8AC3E}">
        <p14:creationId xmlns:p14="http://schemas.microsoft.com/office/powerpoint/2010/main" val="2573931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IGHTSLIDE_SLIDE_COLLAPSE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Thesis PPT">
      <a:dk1>
        <a:sysClr val="windowText" lastClr="000000"/>
      </a:dk1>
      <a:lt1>
        <a:sysClr val="window" lastClr="FFFFFF"/>
      </a:lt1>
      <a:dk2>
        <a:srgbClr val="140812"/>
      </a:dk2>
      <a:lt2>
        <a:srgbClr val="D8D9DC"/>
      </a:lt2>
      <a:accent1>
        <a:srgbClr val="00FFB3"/>
      </a:accent1>
      <a:accent2>
        <a:srgbClr val="00F1FF"/>
      </a:accent2>
      <a:accent3>
        <a:srgbClr val="4775E7"/>
      </a:accent3>
      <a:accent4>
        <a:srgbClr val="8730EA"/>
      </a:accent4>
      <a:accent5>
        <a:srgbClr val="FD6364"/>
      </a:accent5>
      <a:accent6>
        <a:srgbClr val="D54773"/>
      </a:accent6>
      <a:hlink>
        <a:srgbClr val="4775E7"/>
      </a:hlink>
      <a:folHlink>
        <a:srgbClr val="8C8C8C"/>
      </a:folHlink>
    </a:clrScheme>
    <a:fontScheme name="Darker Grotesque">
      <a:majorFont>
        <a:latin typeface="Darker Grotesque SemiBold"/>
        <a:ea typeface=""/>
        <a:cs typeface=""/>
      </a:majorFont>
      <a:minorFont>
        <a:latin typeface="Darker Grotesque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2582</TotalTime>
  <Words>734</Words>
  <Application>Microsoft Office PowerPoint</Application>
  <PresentationFormat>Widescreen</PresentationFormat>
  <Paragraphs>141</Paragraphs>
  <Slides>17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Aptos</vt:lpstr>
      <vt:lpstr>Aptos Display</vt:lpstr>
      <vt:lpstr>Arial</vt:lpstr>
      <vt:lpstr>Bookman Old Style</vt:lpstr>
      <vt:lpstr>Calibri</vt:lpstr>
      <vt:lpstr>Cambria</vt:lpstr>
      <vt:lpstr>Century</vt:lpstr>
      <vt:lpstr>Consolas</vt:lpstr>
      <vt:lpstr>Courier New</vt:lpstr>
      <vt:lpstr>Darker Grotesque</vt:lpstr>
      <vt:lpstr>Darker Grotesque Medium</vt:lpstr>
      <vt:lpstr>Darker Grotesque SemiBold</vt:lpstr>
      <vt:lpstr>Playfair Display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One Skill</dc:creator>
  <cp:lastModifiedBy>Md Rafsan Janee</cp:lastModifiedBy>
  <cp:revision>42</cp:revision>
  <dcterms:created xsi:type="dcterms:W3CDTF">2024-07-26T12:33:19Z</dcterms:created>
  <dcterms:modified xsi:type="dcterms:W3CDTF">2026-08-19T14:59:48Z</dcterms:modified>
</cp:coreProperties>
</file>